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868680"/>
            <a:ext cx="2057400" cy="2057400"/>
          </a:xfrm>
          <a:prstGeom prst="ellipse">
            <a:avLst/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1572768"/>
            <a:ext cx="1042415" cy="1042415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54896" y="1883664"/>
            <a:ext cx="420624" cy="420624"/>
          </a:xfrm>
          <a:prstGeom prst="ellipse">
            <a:avLst/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06640" y="3794760"/>
            <a:ext cx="1353312" cy="502920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43215" y="3858768"/>
            <a:ext cx="12801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900" b="1">
                <a:solidFill>
                  <a:srgbClr val="55C5D0"/>
                </a:solidFill>
                <a:latin typeface="Aptos"/>
              </a:rPr>
              <a:t>ENROLL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59952" y="4050792"/>
            <a:ext cx="155448" cy="0"/>
          </a:xfrm>
          <a:prstGeom prst="line">
            <a:avLst/>
          </a:prstGeom>
          <a:ln w="17780">
            <a:solidFill>
              <a:srgbClr val="55C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915400" y="3794760"/>
            <a:ext cx="1353312" cy="502920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1976" y="3858768"/>
            <a:ext cx="12801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900" b="1">
                <a:solidFill>
                  <a:srgbClr val="10A89A"/>
                </a:solidFill>
                <a:latin typeface="Aptos"/>
              </a:rPr>
              <a:t>RECOGNIZE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268712" y="4050792"/>
            <a:ext cx="155448" cy="0"/>
          </a:xfrm>
          <a:prstGeom prst="line">
            <a:avLst/>
          </a:prstGeom>
          <a:ln w="17780">
            <a:solidFill>
              <a:srgbClr val="55C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424160" y="3794760"/>
            <a:ext cx="1353312" cy="502920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0736" y="3858768"/>
            <a:ext cx="12801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900" b="1">
                <a:solidFill>
                  <a:srgbClr val="F3B74E"/>
                </a:solidFill>
                <a:latin typeface="Aptos"/>
              </a:rPr>
              <a:t>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1792"/>
            <a:ext cx="594360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100" b="1">
                <a:solidFill>
                  <a:srgbClr val="55C5D0"/>
                </a:solidFill>
                <a:latin typeface="Aptos"/>
              </a:rPr>
              <a:t>PROJECT PRESENTATION  /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1325880"/>
            <a:ext cx="7132320" cy="1508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Digital Facial
Recognition Attendance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127248"/>
            <a:ext cx="5989320" cy="8412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800" b="0">
                <a:solidFill>
                  <a:srgbClr val="D5E2EA"/>
                </a:solidFill>
                <a:latin typeface="Aptos"/>
              </a:rPr>
              <a:t>A local, browser-based application that uses face recognition to support student attendance capture and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" y="4882896"/>
            <a:ext cx="5669280" cy="27432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5074920"/>
            <a:ext cx="5852160" cy="47548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000" b="1">
                <a:solidFill>
                  <a:srgbClr val="55C5D0"/>
                </a:solidFill>
                <a:latin typeface="Aptos"/>
              </a:rPr>
              <a:t>PROJECT OVERVIEW  •  METHODOLOGY  •  RESULTS  •  CONCLUSIONS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6190488"/>
            <a:ext cx="5212080" cy="2286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100" b="0">
                <a:solidFill>
                  <a:srgbClr val="AFC3D0"/>
                </a:solidFill>
                <a:latin typeface="Aptos"/>
              </a:rPr>
              <a:t>Flask  |  SQLite  |  OpenCV YuNet + SFace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Why automate attendance?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Reduce routine roll-call effort while keeping attendance records searchable.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55648"/>
            <a:ext cx="3493008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755648"/>
            <a:ext cx="64008" cy="1828800"/>
          </a:xfrm>
          <a:prstGeom prst="rect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19"/>
            <a:ext cx="3127248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The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127248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Manual roll calls take class time and make record consolidation and follow-up harder.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55648"/>
            <a:ext cx="3493008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55648"/>
            <a:ext cx="64008" cy="1828800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74519"/>
            <a:ext cx="3127248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The project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286000"/>
            <a:ext cx="3127248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Build a browser-based workflow for student enrollment, live face matching, and attendance 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5" y="1755648"/>
            <a:ext cx="3493008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7575" y="1755648"/>
            <a:ext cx="64008" cy="1828800"/>
          </a:xfrm>
          <a:prstGeom prst="rect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5" y="1874519"/>
            <a:ext cx="3127248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The intended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5" y="2286000"/>
            <a:ext cx="3127248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A locally operated prototype with daily duplicate prevention, dashboard summaries, filters, and CSV export.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986784"/>
            <a:ext cx="283464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000" b="1">
                <a:solidFill>
                  <a:srgbClr val="10A89A"/>
                </a:solidFill>
                <a:latin typeface="Aptos"/>
              </a:rPr>
              <a:t>DESIGN PRINCIPLES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" y="4480560"/>
            <a:ext cx="201168" cy="201168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416552"/>
            <a:ext cx="978408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500" b="0">
                <a:solidFill>
                  <a:srgbClr val="182B3D"/>
                </a:solidFill>
                <a:latin typeface="Aptos"/>
              </a:rPr>
              <a:t>Admin-gated access to app pages and APIs</a:t>
            </a:r>
          </a:p>
        </p:txBody>
      </p:sp>
      <p:sp>
        <p:nvSpPr>
          <p:cNvPr id="24" name="Oval 23"/>
          <p:cNvSpPr/>
          <p:nvPr/>
        </p:nvSpPr>
        <p:spPr>
          <a:xfrm>
            <a:off x="804672" y="4965192"/>
            <a:ext cx="201168" cy="201168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901184"/>
            <a:ext cx="978408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500" b="0">
                <a:solidFill>
                  <a:srgbClr val="182B3D"/>
                </a:solidFill>
                <a:latin typeface="Aptos"/>
              </a:rPr>
              <a:t>One successful attendance entry per student per UTC day</a:t>
            </a:r>
          </a:p>
        </p:txBody>
      </p:sp>
      <p:sp>
        <p:nvSpPr>
          <p:cNvPr id="26" name="Oval 25"/>
          <p:cNvSpPr/>
          <p:nvPr/>
        </p:nvSpPr>
        <p:spPr>
          <a:xfrm>
            <a:off x="804672" y="5449824"/>
            <a:ext cx="201168" cy="201168"/>
          </a:xfrm>
          <a:prstGeom prst="ellipse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5385816"/>
            <a:ext cx="978408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500" b="0">
                <a:solidFill>
                  <a:srgbClr val="182B3D"/>
                </a:solidFill>
                <a:latin typeface="Aptos"/>
              </a:rPr>
              <a:t>Keep biometric data local; obtain consent and protect retention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SOLUTION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Five connected capabilities take an administrator from registration to usable records.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03</a:t>
            </a:r>
          </a:p>
        </p:txBody>
      </p:sp>
      <p:sp>
        <p:nvSpPr>
          <p:cNvPr id="9" name="Oval 8"/>
          <p:cNvSpPr/>
          <p:nvPr/>
        </p:nvSpPr>
        <p:spPr>
          <a:xfrm>
            <a:off x="1252728" y="1847088"/>
            <a:ext cx="530352" cy="530352"/>
          </a:xfrm>
          <a:prstGeom prst="ellipse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1911095"/>
            <a:ext cx="51206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92224" y="2112264"/>
            <a:ext cx="996696" cy="0"/>
          </a:xfrm>
          <a:prstGeom prst="line">
            <a:avLst/>
          </a:prstGeom>
          <a:ln w="2540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58952" y="2615184"/>
            <a:ext cx="16002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700" b="1">
                <a:solidFill>
                  <a:srgbClr val="10243A"/>
                </a:solidFill>
                <a:latin typeface="Aptos"/>
              </a:rPr>
              <a:t>Enroll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0"/>
            <a:ext cx="1993392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607386"/>
                </a:solidFill>
                <a:latin typeface="Aptos"/>
              </a:rPr>
              <a:t>Create a student profile and capture webcam frames.</a:t>
            </a:r>
          </a:p>
        </p:txBody>
      </p:sp>
      <p:sp>
        <p:nvSpPr>
          <p:cNvPr id="14" name="Oval 13"/>
          <p:cNvSpPr/>
          <p:nvPr/>
        </p:nvSpPr>
        <p:spPr>
          <a:xfrm>
            <a:off x="3520439" y="1847088"/>
            <a:ext cx="530352" cy="530352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9584" y="1911095"/>
            <a:ext cx="51206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59935" y="2112264"/>
            <a:ext cx="996696" cy="0"/>
          </a:xfrm>
          <a:prstGeom prst="line">
            <a:avLst/>
          </a:prstGeom>
          <a:ln w="2540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026663" y="2615184"/>
            <a:ext cx="16002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700" b="1">
                <a:solidFill>
                  <a:srgbClr val="10243A"/>
                </a:solidFill>
                <a:latin typeface="Aptos"/>
              </a:rPr>
              <a:t>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3108960"/>
            <a:ext cx="1993392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607386"/>
                </a:solidFill>
                <a:latin typeface="Aptos"/>
              </a:rPr>
              <a:t>Detect faces and build one normalized embedding per student.</a:t>
            </a:r>
          </a:p>
        </p:txBody>
      </p:sp>
      <p:sp>
        <p:nvSpPr>
          <p:cNvPr id="19" name="Oval 18"/>
          <p:cNvSpPr/>
          <p:nvPr/>
        </p:nvSpPr>
        <p:spPr>
          <a:xfrm>
            <a:off x="5788152" y="1847088"/>
            <a:ext cx="530352" cy="530352"/>
          </a:xfrm>
          <a:prstGeom prst="ellipse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7296" y="1911095"/>
            <a:ext cx="51206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27648" y="2112264"/>
            <a:ext cx="996696" cy="0"/>
          </a:xfrm>
          <a:prstGeom prst="line">
            <a:avLst/>
          </a:prstGeom>
          <a:ln w="2540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94376" y="2615184"/>
            <a:ext cx="16002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700" b="1">
                <a:solidFill>
                  <a:srgbClr val="10243A"/>
                </a:solidFill>
                <a:latin typeface="Aptos"/>
              </a:rPr>
              <a:t>Recognize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2352" y="3108960"/>
            <a:ext cx="1993392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607386"/>
                </a:solidFill>
                <a:latin typeface="Aptos"/>
              </a:rPr>
              <a:t>Compare a live face embedding with enrolled profiles.</a:t>
            </a:r>
          </a:p>
        </p:txBody>
      </p:sp>
      <p:sp>
        <p:nvSpPr>
          <p:cNvPr id="24" name="Oval 23"/>
          <p:cNvSpPr/>
          <p:nvPr/>
        </p:nvSpPr>
        <p:spPr>
          <a:xfrm>
            <a:off x="8055863" y="1847088"/>
            <a:ext cx="530352" cy="530352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7" y="1911095"/>
            <a:ext cx="51206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95359" y="2112264"/>
            <a:ext cx="996696" cy="0"/>
          </a:xfrm>
          <a:prstGeom prst="line">
            <a:avLst/>
          </a:prstGeom>
          <a:ln w="2540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62088" y="2615184"/>
            <a:ext cx="16002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700" b="1">
                <a:solidFill>
                  <a:srgbClr val="10243A"/>
                </a:solidFill>
                <a:latin typeface="Aptos"/>
              </a:rPr>
              <a:t>Record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3" y="3108960"/>
            <a:ext cx="1993392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607386"/>
                </a:solidFill>
                <a:latin typeface="Aptos"/>
              </a:rPr>
              <a:t>Write a timestamped attendance event, once each UTC day.</a:t>
            </a:r>
          </a:p>
        </p:txBody>
      </p:sp>
      <p:sp>
        <p:nvSpPr>
          <p:cNvPr id="29" name="Oval 28"/>
          <p:cNvSpPr/>
          <p:nvPr/>
        </p:nvSpPr>
        <p:spPr>
          <a:xfrm>
            <a:off x="10323576" y="1847088"/>
            <a:ext cx="530352" cy="530352"/>
          </a:xfrm>
          <a:prstGeom prst="ellipse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9" y="1911095"/>
            <a:ext cx="512064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615184"/>
            <a:ext cx="160020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700" b="1">
                <a:solidFill>
                  <a:srgbClr val="10243A"/>
                </a:solidFill>
                <a:latin typeface="Aptos"/>
              </a:rPr>
              <a:t>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3108960"/>
            <a:ext cx="1993392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607386"/>
                </a:solidFill>
                <a:latin typeface="Aptos"/>
              </a:rPr>
              <a:t>View charts, filter records, or export CSV.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4773168"/>
            <a:ext cx="10479024" cy="850392"/>
          </a:xfrm>
          <a:prstGeom prst="roundRect">
            <a:avLst>
              <a:gd name="adj" fmla="val 12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4928616"/>
            <a:ext cx="10021824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Aptos"/>
              </a:rPr>
              <a:t>Core idea: transform webcam frames into a face embedding, compare by cosine similarity, and store only the attendance event when the match clears the configured threshold.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HOW THE PARTS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Browser camera capture sends frames to the Flask application; local model and database support processing.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856231"/>
            <a:ext cx="2176272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20824"/>
            <a:ext cx="1828800" cy="4114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500" b="1">
                <a:solidFill>
                  <a:srgbClr val="10243A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24328"/>
            <a:ext cx="1783080" cy="11704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607386"/>
                </a:solidFill>
                <a:latin typeface="Aptos"/>
              </a:rPr>
              <a:t>Admin pages
Webcam capture
Dashboard &amp;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7" y="1655064"/>
            <a:ext cx="2468880" cy="2724912"/>
          </a:xfrm>
          <a:prstGeom prst="roundRect">
            <a:avLst>
              <a:gd name="adj" fmla="val 12000"/>
            </a:avLst>
          </a:prstGeom>
          <a:solidFill>
            <a:srgbClr val="EA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1856231"/>
            <a:ext cx="2039112" cy="40233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500" b="1">
                <a:solidFill>
                  <a:srgbClr val="10243A"/>
                </a:solidFill>
                <a:latin typeface="Aptos"/>
              </a:rPr>
              <a:t>FLASK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68496" y="2432304"/>
            <a:ext cx="1856231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41648" y="2459736"/>
            <a:ext cx="1700784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000" b="0">
                <a:solidFill>
                  <a:srgbClr val="182B3D"/>
                </a:solidFill>
                <a:latin typeface="Aptos"/>
              </a:rPr>
              <a:t>Authentication + CSRF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2953512"/>
            <a:ext cx="1856231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41648" y="2980944"/>
            <a:ext cx="1700784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000" b="0">
                <a:solidFill>
                  <a:srgbClr val="182B3D"/>
                </a:solidFill>
                <a:latin typeface="Aptos"/>
              </a:rPr>
              <a:t>Enrollment +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8496" y="3474720"/>
            <a:ext cx="1856231" cy="365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1648" y="3502152"/>
            <a:ext cx="1700784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000" b="0">
                <a:solidFill>
                  <a:srgbClr val="182B3D"/>
                </a:solidFill>
                <a:latin typeface="Aptos"/>
              </a:rPr>
              <a:t>Attendance + CSV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94576" y="1655064"/>
            <a:ext cx="2039112" cy="27249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1856231"/>
            <a:ext cx="1737360" cy="40233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400" b="1">
                <a:solidFill>
                  <a:srgbClr val="10243A"/>
                </a:solidFill>
                <a:latin typeface="Aptos"/>
              </a:rPr>
              <a:t>FACE PIPELINE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04888" y="2432304"/>
            <a:ext cx="1618488" cy="365760"/>
          </a:xfrm>
          <a:prstGeom prst="roundRect">
            <a:avLst>
              <a:gd name="adj" fmla="val 12000"/>
            </a:avLst>
          </a:prstGeom>
          <a:solidFill>
            <a:srgbClr val="E7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9752" y="2459736"/>
            <a:ext cx="150876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000" b="0">
                <a:solidFill>
                  <a:srgbClr val="182B3D"/>
                </a:solidFill>
                <a:latin typeface="Aptos"/>
              </a:rPr>
              <a:t>YuNet detect + align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04888" y="2953512"/>
            <a:ext cx="1618488" cy="365760"/>
          </a:xfrm>
          <a:prstGeom prst="roundRect">
            <a:avLst>
              <a:gd name="adj" fmla="val 12000"/>
            </a:avLst>
          </a:prstGeom>
          <a:solidFill>
            <a:srgbClr val="E7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9752" y="2980944"/>
            <a:ext cx="150876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000" b="0">
                <a:solidFill>
                  <a:srgbClr val="182B3D"/>
                </a:solidFill>
                <a:latin typeface="Aptos"/>
              </a:rPr>
              <a:t>SFace feature vector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04888" y="3474720"/>
            <a:ext cx="1618488" cy="365760"/>
          </a:xfrm>
          <a:prstGeom prst="roundRect">
            <a:avLst>
              <a:gd name="adj" fmla="val 12000"/>
            </a:avLst>
          </a:prstGeom>
          <a:solidFill>
            <a:srgbClr val="E7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9752" y="3502152"/>
            <a:ext cx="1508760" cy="29260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000" b="0">
                <a:solidFill>
                  <a:srgbClr val="182B3D"/>
                </a:solidFill>
                <a:latin typeface="Aptos"/>
              </a:rPr>
              <a:t>Cosine similarity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37776" y="1746504"/>
            <a:ext cx="1719072" cy="932688"/>
          </a:xfrm>
          <a:prstGeom prst="roundRect">
            <a:avLst>
              <a:gd name="adj" fmla="val 12000"/>
            </a:avLst>
          </a:prstGeom>
          <a:solidFill>
            <a:srgbClr val="10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56648" y="1920240"/>
            <a:ext cx="1472184" cy="60350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SQLite
profiles + records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37776" y="3081528"/>
            <a:ext cx="1719072" cy="932688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6648" y="3255264"/>
            <a:ext cx="1472184" cy="60350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NPZ
face embeddings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971800" y="3008376"/>
            <a:ext cx="676656" cy="0"/>
          </a:xfrm>
          <a:prstGeom prst="line">
            <a:avLst/>
          </a:prstGeom>
          <a:ln w="25400">
            <a:solidFill>
              <a:srgbClr val="10A8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163056" y="3008376"/>
            <a:ext cx="704088" cy="0"/>
          </a:xfrm>
          <a:prstGeom prst="line">
            <a:avLst/>
          </a:prstGeom>
          <a:ln w="25400">
            <a:solidFill>
              <a:srgbClr val="10A8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942832" y="2212848"/>
            <a:ext cx="658368" cy="0"/>
          </a:xfrm>
          <a:prstGeom prst="line">
            <a:avLst/>
          </a:prstGeom>
          <a:ln w="25400">
            <a:solidFill>
              <a:srgbClr val="F3B7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942832" y="3529584"/>
            <a:ext cx="658368" cy="0"/>
          </a:xfrm>
          <a:prstGeom prst="line">
            <a:avLst/>
          </a:prstGeom>
          <a:ln w="25400">
            <a:solidFill>
              <a:srgbClr val="F3B7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9536" y="4828032"/>
            <a:ext cx="10479024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607386"/>
                </a:solidFill>
                <a:latin typeface="Aptos"/>
              </a:rPr>
              <a:t>Local-first data flow  •  Enrollment photos stored as SQLite BLOBs  •  Model trained in the background with visible status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IMPLEMENTATION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Methodology: enrollment to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Enrollment photographs become searchable face templates through a background training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05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764792"/>
            <a:ext cx="420624" cy="420624"/>
          </a:xfrm>
          <a:prstGeom prst="ellipse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810512"/>
            <a:ext cx="402336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33271" y="2203704"/>
            <a:ext cx="0" cy="338328"/>
          </a:xfrm>
          <a:prstGeom prst="line">
            <a:avLst/>
          </a:prstGeom>
          <a:ln w="203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499616" y="1719072"/>
            <a:ext cx="210312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719072"/>
            <a:ext cx="717804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Save student identity fields in SQLite.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2596896"/>
            <a:ext cx="420624" cy="420624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2642616"/>
            <a:ext cx="402336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" y="3035808"/>
            <a:ext cx="0" cy="338328"/>
          </a:xfrm>
          <a:prstGeom prst="line">
            <a:avLst/>
          </a:prstGeom>
          <a:ln w="203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99616" y="2551176"/>
            <a:ext cx="210312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Capture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551176"/>
            <a:ext cx="717804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Browser requests camera access and captures up to 50 frames.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3429000"/>
            <a:ext cx="420624" cy="420624"/>
          </a:xfrm>
          <a:prstGeom prst="ellipse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3474720"/>
            <a:ext cx="402336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33271" y="3867912"/>
            <a:ext cx="0" cy="338328"/>
          </a:xfrm>
          <a:prstGeom prst="line">
            <a:avLst/>
          </a:prstGeom>
          <a:ln w="203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99616" y="3383280"/>
            <a:ext cx="210312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83280"/>
            <a:ext cx="717804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Reject invalid image bytes; store acceptable photos in the database.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261103"/>
            <a:ext cx="420624" cy="420624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" y="4306823"/>
            <a:ext cx="402336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33271" y="4700016"/>
            <a:ext cx="0" cy="338328"/>
          </a:xfrm>
          <a:prstGeom prst="line">
            <a:avLst/>
          </a:prstGeom>
          <a:ln w="20320">
            <a:solidFill>
              <a:srgbClr val="D9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499616" y="4215383"/>
            <a:ext cx="210312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Detect + align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15383"/>
            <a:ext cx="717804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YuNet locates a face; SFace aligns the face crop.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5093207"/>
            <a:ext cx="420624" cy="420624"/>
          </a:xfrm>
          <a:prstGeom prst="ellipse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" y="5138927"/>
            <a:ext cx="402336" cy="2560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99616" y="5047488"/>
            <a:ext cx="2103120" cy="3931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Build 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5047488"/>
            <a:ext cx="717804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400" b="0">
                <a:solidFill>
                  <a:srgbClr val="607386"/>
                </a:solidFill>
                <a:latin typeface="Aptos"/>
              </a:rPr>
              <a:t>Normalize face embeddings, average per student, and save the NPZ model.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925312"/>
            <a:ext cx="10424160" cy="384048"/>
          </a:xfrm>
          <a:prstGeom prst="roundRect">
            <a:avLst>
              <a:gd name="adj" fmla="val 12000"/>
            </a:avLst>
          </a:prstGeom>
          <a:solidFill>
            <a:srgbClr val="E7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934456"/>
            <a:ext cx="10076688" cy="3383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0">
                <a:solidFill>
                  <a:srgbClr val="182B3D"/>
                </a:solidFill>
                <a:latin typeface="Aptos"/>
              </a:rPr>
              <a:t>Training status includes progress and a terminal success/error message; unusable images are counted as skipped.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DECISION &amp; ATTENDANCE RECORDING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Methodology: live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The API returns recognition status and avoids a second daily entry for a matched student.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20824"/>
            <a:ext cx="184708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020824"/>
            <a:ext cx="1847088" cy="100584"/>
          </a:xfrm>
          <a:prstGeom prst="rect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95144"/>
            <a:ext cx="1627632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1">
                <a:solidFill>
                  <a:srgbClr val="55C5D0"/>
                </a:solidFill>
                <a:latin typeface="Aptos"/>
              </a:rPr>
              <a:t>CAMERA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706624"/>
            <a:ext cx="155448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0">
                <a:solidFill>
                  <a:srgbClr val="182B3D"/>
                </a:solidFill>
                <a:latin typeface="Aptos"/>
              </a:rPr>
              <a:t>Frame captured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42032" y="2724912"/>
            <a:ext cx="402336" cy="0"/>
          </a:xfrm>
          <a:prstGeom prst="line">
            <a:avLst/>
          </a:prstGeom>
          <a:ln w="19050">
            <a:solidFill>
              <a:srgbClr val="6073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088" y="2020824"/>
            <a:ext cx="184708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0088" y="2020824"/>
            <a:ext cx="1847088" cy="100584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9816" y="2295144"/>
            <a:ext cx="1627632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1">
                <a:solidFill>
                  <a:srgbClr val="10A89A"/>
                </a:solidFill>
                <a:latin typeface="Aptos"/>
              </a:rPr>
              <a:t>EMBED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706624"/>
            <a:ext cx="155448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0">
                <a:solidFill>
                  <a:srgbClr val="182B3D"/>
                </a:solidFill>
                <a:latin typeface="Aptos"/>
              </a:rPr>
              <a:t>Detect + embed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46320" y="2724912"/>
            <a:ext cx="402336" cy="0"/>
          </a:xfrm>
          <a:prstGeom prst="line">
            <a:avLst/>
          </a:prstGeom>
          <a:ln w="19050">
            <a:solidFill>
              <a:srgbClr val="6073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94376" y="2020824"/>
            <a:ext cx="184708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94376" y="2020824"/>
            <a:ext cx="1847088" cy="100584"/>
          </a:xfrm>
          <a:prstGeom prst="rect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2295144"/>
            <a:ext cx="1627632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1">
                <a:solidFill>
                  <a:srgbClr val="F3B74E"/>
                </a:solidFill>
                <a:latin typeface="Aptos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2706624"/>
            <a:ext cx="155448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0">
                <a:solidFill>
                  <a:srgbClr val="182B3D"/>
                </a:solidFill>
                <a:latin typeface="Aptos"/>
              </a:rPr>
              <a:t>Compare enrolled vectors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50608" y="2724912"/>
            <a:ext cx="402336" cy="0"/>
          </a:xfrm>
          <a:prstGeom prst="line">
            <a:avLst/>
          </a:prstGeom>
          <a:ln w="19050">
            <a:solidFill>
              <a:srgbClr val="6073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98664" y="2020824"/>
            <a:ext cx="184708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98664" y="2020824"/>
            <a:ext cx="1847088" cy="100584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8392" y="2295144"/>
            <a:ext cx="1627632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1">
                <a:solidFill>
                  <a:srgbClr val="10A89A"/>
                </a:solidFill>
                <a:latin typeface="Aptos"/>
              </a:rP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4968" y="2706624"/>
            <a:ext cx="155448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0">
                <a:solidFill>
                  <a:srgbClr val="182B3D"/>
                </a:solidFill>
                <a:latin typeface="Aptos"/>
              </a:rPr>
              <a:t>Similarity ≥ 0.363?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54896" y="2724912"/>
            <a:ext cx="402336" cy="0"/>
          </a:xfrm>
          <a:prstGeom prst="line">
            <a:avLst/>
          </a:prstGeom>
          <a:ln w="19050">
            <a:solidFill>
              <a:srgbClr val="6073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902952" y="2020824"/>
            <a:ext cx="1847088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02952" y="2020824"/>
            <a:ext cx="1847088" cy="100584"/>
          </a:xfrm>
          <a:prstGeom prst="rect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2295144"/>
            <a:ext cx="1627632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300" b="1">
                <a:solidFill>
                  <a:srgbClr val="55C5D0"/>
                </a:solidFill>
                <a:latin typeface="Aptos"/>
              </a:rPr>
              <a:t>WRITE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9256" y="2706624"/>
            <a:ext cx="155448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0">
                <a:solidFill>
                  <a:srgbClr val="182B3D"/>
                </a:solidFill>
                <a:latin typeface="Aptos"/>
              </a:rPr>
              <a:t>Insert once per UTC date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1832" y="3977639"/>
            <a:ext cx="4892040" cy="1060704"/>
          </a:xfrm>
          <a:prstGeom prst="roundRect">
            <a:avLst>
              <a:gd name="adj" fmla="val 12000"/>
            </a:avLst>
          </a:prstGeom>
          <a:solidFill>
            <a:srgbClr val="EA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4151376"/>
            <a:ext cx="4434840" cy="685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400" b="0">
                <a:solidFill>
                  <a:srgbClr val="182B3D"/>
                </a:solidFill>
                <a:latin typeface="Aptos"/>
              </a:rPr>
              <a:t>Match accepted: return student and similarity; record attendance if no daily entry exists.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977639"/>
            <a:ext cx="4892040" cy="1060704"/>
          </a:xfrm>
          <a:prstGeom prst="roundRect">
            <a:avLst>
              <a:gd name="adj" fmla="val 12000"/>
            </a:avLst>
          </a:prstGeom>
          <a:solidFill>
            <a:srgbClr val="FFF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4151376"/>
            <a:ext cx="4443984" cy="685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400" b="0">
                <a:solidFill>
                  <a:srgbClr val="182B3D"/>
                </a:solidFill>
                <a:latin typeface="Aptos"/>
              </a:rPr>
              <a:t>No match / already marked: return status without creating another attendance row.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486400"/>
            <a:ext cx="10332720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0">
                <a:solidFill>
                  <a:srgbClr val="607386"/>
                </a:solidFill>
                <a:latin typeface="Aptos"/>
              </a:rPr>
              <a:t>The configured threshold is a decision setting—not a measured accuracy score. Test and tune it using representative, consented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IMPLEMENTATION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Technology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A compact local stack links the browser interface, recognition pipeline, and attendance records.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" y="1737360"/>
          <a:ext cx="1068019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559552"/>
              </a:tblGrid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Layer</a:t>
                      </a:r>
                    </a:p>
                  </a:txBody>
                  <a:tcPr marL="109728" marR="109728" marT="73152" marB="73152" anchor="ctr"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Technology</a:t>
                      </a:r>
                    </a:p>
                  </a:txBody>
                  <a:tcPr marL="109728" marR="109728" marT="73152" marB="73152" anchor="ctr"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Role in the project</a:t>
                      </a:r>
                    </a:p>
                  </a:txBody>
                  <a:tcPr marL="109728" marR="109728" marT="73152" marB="73152" anchor="ctr">
                    <a:solidFill>
                      <a:srgbClr val="10243A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82B3D"/>
                          </a:solidFill>
                          <a:latin typeface="Aptos"/>
                        </a:rPr>
                        <a:t>Web application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Python + Flask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Routes, admin session, training status, attendance endpoints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82B3D"/>
                          </a:solidFill>
                          <a:latin typeface="Aptos"/>
                        </a:rPr>
                        <a:t>Web interface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HTML / CSS / JavaScript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Student forms, camera capture, live recognition, dashboard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82B3D"/>
                          </a:solidFill>
                          <a:latin typeface="Aptos"/>
                        </a:rPr>
                        <a:t>Face detection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OpenCV YuNet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Detect and align the most prominent face in a frame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82B3D"/>
                          </a:solidFill>
                          <a:latin typeface="Aptos"/>
                        </a:rPr>
                        <a:t>Face recognition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OpenCV SFace + NumPy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Create normalized embeddings and compare by cosine similarity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82B3D"/>
                          </a:solidFill>
                          <a:latin typeface="Aptos"/>
                        </a:rPr>
                        <a:t>Persistence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SQLite + NPZ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07386"/>
                          </a:solidFill>
                          <a:latin typeface="Aptos"/>
                        </a:rPr>
                        <a:t>Profiles, photos, attendance events, and trained embeddings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41248" y="5952744"/>
            <a:ext cx="10378440" cy="28346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100" b="1">
                <a:solidFill>
                  <a:srgbClr val="D66B62"/>
                </a:solidFill>
                <a:latin typeface="Aptos"/>
              </a:rPr>
              <a:t>Biometric photos and derived embeddings are sensitive data; protect database/model files and define retention.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OBSERVED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Results from the available project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Evidence comes from the local database counts and the recorded model-training status—not a controlled accuracy study.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" y="1755648"/>
          <a:ext cx="10643616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1572768"/>
                <a:gridCol w="6281928"/>
              </a:tblGrid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Measure</a:t>
                      </a:r>
                    </a:p>
                  </a:txBody>
                  <a:tcPr marL="109728" marR="109728" marT="73152" marB="73152" anchor="ctr"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Observed</a:t>
                      </a:r>
                    </a:p>
                  </a:txBody>
                  <a:tcPr marL="109728" marR="109728" marT="73152" marB="73152" anchor="ctr"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</a:rPr>
                        <a:t>Interpretation</a:t>
                      </a:r>
                    </a:p>
                  </a:txBody>
                  <a:tcPr marL="109728" marR="109728" marT="73152" marB="73152" anchor="ctr">
                    <a:solidFill>
                      <a:srgbClr val="10243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Student profiles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A89A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Profiles present in the local database snapshot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Captured face photos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A89A"/>
                          </a:solidFill>
                          <a:latin typeface="Aptos"/>
                        </a:rPr>
                        <a:t>250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Photos stored for enrollment; not all necessarily usable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Latest training status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A89A"/>
                          </a:solidFill>
                          <a:latin typeface="Aptos"/>
                        </a:rPr>
                        <a:t>Completed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Training log reports terminal success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Images used / skipped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A89A"/>
                          </a:solidFill>
                          <a:latin typeface="Aptos"/>
                        </a:rPr>
                        <a:t>100 / 150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Training log reports 100 used and 150 skipped</a:t>
                      </a:r>
                    </a:p>
                  </a:txBody>
                  <a:tcPr marL="109728" marR="109728" marT="73152" marB="73152" anchor="ctr">
                    <a:solidFill>
                      <a:srgbClr val="EDF3F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Attendance records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A89A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82B3D"/>
                          </a:solidFill>
                          <a:latin typeface="Aptos"/>
                        </a:rPr>
                        <a:t>Rows present in the local attendance table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41248" y="5477256"/>
            <a:ext cx="10469880" cy="676656"/>
          </a:xfrm>
          <a:prstGeom prst="roundRect">
            <a:avLst>
              <a:gd name="adj" fmla="val 12000"/>
            </a:avLst>
          </a:prstGeom>
          <a:solidFill>
            <a:srgbClr val="FFF4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577840"/>
            <a:ext cx="10058400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1200" b="1">
                <a:solidFill>
                  <a:srgbClr val="182B3D"/>
                </a:solidFill>
                <a:latin typeface="Aptos"/>
              </a:rPr>
              <a:t>Recognition accuracy, false-accept rate, false-reject rate, latency, and user-study outcomes were not measured in the available project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10896"/>
            <a:ext cx="9509760" cy="21945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1">
                <a:solidFill>
                  <a:srgbClr val="10A89A"/>
                </a:solidFill>
                <a:latin typeface="Aptos"/>
              </a:rPr>
              <a:t>CONCLUSIONS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66928"/>
            <a:ext cx="10972800" cy="5029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700" b="1">
                <a:solidFill>
                  <a:srgbClr val="10243A"/>
                </a:solidFill>
                <a:latin typeface="Aptos"/>
              </a:rPr>
              <a:t>What the results tell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06424"/>
            <a:ext cx="10881360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0">
                <a:solidFill>
                  <a:srgbClr val="607386"/>
                </a:solidFill>
                <a:latin typeface="Aptos"/>
              </a:rPr>
              <a:t>The prototype demonstrates an end-to-end implementation; recorded counts alone do not establish recognition 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10908792" cy="10972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19672"/>
            <a:ext cx="713232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800" b="0">
                <a:solidFill>
                  <a:srgbClr val="607386"/>
                </a:solidFill>
                <a:latin typeface="Aptos"/>
              </a:rPr>
              <a:t>DIGITAL FACIAL RECOGNITION ATTENDANCE SYSTEM  |  PROJECT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10A89A"/>
                </a:solidFill>
                <a:latin typeface="Apto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509320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737360"/>
            <a:ext cx="64008" cy="157276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56231"/>
            <a:ext cx="4727448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What is demonstrated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4727448" cy="9326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07386"/>
                </a:solidFill>
                <a:latin typeface="Aptos"/>
              </a:rPr>
              <a:t>Enrollment, background template building, webcam recognition, daily duplicate prevention, record filters, dashboard, and CSV export.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093208" cy="1572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64008" cy="1572768"/>
          </a:xfrm>
          <a:prstGeom prst="rect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1856231"/>
            <a:ext cx="4727448" cy="3474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10243A"/>
                </a:solidFill>
                <a:latin typeface="Aptos"/>
              </a:rPr>
              <a:t>What remains unverified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267712"/>
            <a:ext cx="4727448" cy="9326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607386"/>
                </a:solidFill>
                <a:latin typeface="Aptos"/>
              </a:rPr>
              <a:t>No documented benchmark of recognition accuracy, speed, fairness across groups, or performance in varied lighting and camera conditions.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03320"/>
            <a:ext cx="41148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000" b="1">
                <a:solidFill>
                  <a:srgbClr val="10A89A"/>
                </a:solidFill>
                <a:latin typeface="Aptos"/>
              </a:rPr>
              <a:t>RESPONSIBLE DEPLOYMENT CHECKLIST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4233672"/>
            <a:ext cx="164592" cy="164592"/>
          </a:xfrm>
          <a:prstGeom prst="ellipse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6152" y="4160520"/>
            <a:ext cx="96012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300" b="0">
                <a:solidFill>
                  <a:srgbClr val="182B3D"/>
                </a:solidFill>
                <a:latin typeface="Aptos"/>
              </a:rPr>
              <a:t>Get informed consent before biometric capture.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663440"/>
            <a:ext cx="164592" cy="164592"/>
          </a:xfrm>
          <a:prstGeom prst="ellipse">
            <a:avLst/>
          </a:prstGeom>
          <a:solidFill>
            <a:srgbClr val="55C5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152" y="4590288"/>
            <a:ext cx="96012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300" b="0">
                <a:solidFill>
                  <a:srgbClr val="182B3D"/>
                </a:solidFill>
                <a:latin typeface="Aptos"/>
              </a:rPr>
              <a:t>Keep use proportionate; provide a manual correction path.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5093208"/>
            <a:ext cx="164592" cy="164592"/>
          </a:xfrm>
          <a:prstGeom prst="ellipse">
            <a:avLst/>
          </a:prstGeom>
          <a:solidFill>
            <a:srgbClr val="F3B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6152" y="5020056"/>
            <a:ext cx="96012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300" b="0">
                <a:solidFill>
                  <a:srgbClr val="182B3D"/>
                </a:solidFill>
                <a:latin typeface="Aptos"/>
              </a:rPr>
              <a:t>Restrict access, protect backups, and set deletion/retention rules.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5522976"/>
            <a:ext cx="164592" cy="164592"/>
          </a:xfrm>
          <a:prstGeom prst="ellipse">
            <a:avLst/>
          </a:prstGeom>
          <a:solidFill>
            <a:srgbClr val="D66B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6152" y="5449824"/>
            <a:ext cx="9601200" cy="3200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300" b="0">
                <a:solidFill>
                  <a:srgbClr val="182B3D"/>
                </a:solidFill>
                <a:latin typeface="Aptos"/>
              </a:rPr>
              <a:t>Evaluate false matches and missed matches before consequential 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557784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000" b="1">
                <a:solidFill>
                  <a:srgbClr val="55C5D0"/>
                </a:solidFill>
                <a:latin typeface="Apto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978408"/>
            <a:ext cx="9875520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Aptos"/>
              </a:rPr>
              <a:t>A practical attendance prototype—with validation still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47088"/>
            <a:ext cx="9966960" cy="5669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0">
                <a:solidFill>
                  <a:srgbClr val="D5E2EA"/>
                </a:solidFill>
                <a:latin typeface="Aptos"/>
              </a:rPr>
              <a:t>The project connects student enrollment, face matching, attendance storage, and record review in a local web application.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852928"/>
            <a:ext cx="3657600" cy="310896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000" b="1">
                <a:solidFill>
                  <a:srgbClr val="55C5D0"/>
                </a:solidFill>
                <a:latin typeface="Aptos"/>
              </a:rPr>
              <a:t>RECOMMENDED NEXT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355848"/>
            <a:ext cx="3337560" cy="1353312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3511296"/>
            <a:ext cx="5029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1">
                <a:solidFill>
                  <a:srgbClr val="55C5D0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74720"/>
            <a:ext cx="2331720" cy="3383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895344"/>
            <a:ext cx="29260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D5E2EA"/>
                </a:solidFill>
                <a:latin typeface="Aptos"/>
              </a:rPr>
              <a:t>Test accuracy and error rates on a consented, representative 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355848"/>
            <a:ext cx="3337560" cy="1353312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511296"/>
            <a:ext cx="5029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1">
                <a:solidFill>
                  <a:srgbClr val="55C5D0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9512" y="3474720"/>
            <a:ext cx="2331720" cy="3383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Improve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95344"/>
            <a:ext cx="29260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D5E2EA"/>
                </a:solidFill>
                <a:latin typeface="Aptos"/>
              </a:rPr>
              <a:t>Tune threshold and enrollment guidance using measured results.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1312" y="3355848"/>
            <a:ext cx="3337560" cy="1353312"/>
          </a:xfrm>
          <a:prstGeom prst="roundRect">
            <a:avLst>
              <a:gd name="adj" fmla="val 12000"/>
            </a:avLst>
          </a:prstGeom>
          <a:solidFill>
            <a:srgbClr val="18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3511296"/>
            <a:ext cx="502920" cy="27432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200" b="1">
                <a:solidFill>
                  <a:srgbClr val="55C5D0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4544" y="3474720"/>
            <a:ext cx="2331720" cy="33832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Protect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895344"/>
            <a:ext cx="292608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/>
            <a:r>
              <a:rPr sz="1200" b="0">
                <a:solidFill>
                  <a:srgbClr val="D5E2EA"/>
                </a:solidFill>
                <a:latin typeface="Aptos"/>
              </a:rPr>
              <a:t>Set retention, access, backup, and manual-review policies.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" y="5212080"/>
            <a:ext cx="10469880" cy="18288"/>
          </a:xfrm>
          <a:prstGeom prst="rect">
            <a:avLst/>
          </a:prstGeom>
          <a:solidFill>
            <a:srgbClr val="1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431536"/>
            <a:ext cx="10424160" cy="51206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6272784"/>
            <a:ext cx="9692640" cy="1828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/>
            <a:r>
              <a:rPr sz="900" b="0">
                <a:solidFill>
                  <a:srgbClr val="AFC3D0"/>
                </a:solidFill>
                <a:latin typeface="Aptos"/>
              </a:rPr>
              <a:t>Sources: project README, app.py, model.py, train_status.json, local aggregate database counts.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54496"/>
            <a:ext cx="502920" cy="2011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r"/>
            <a:r>
              <a:rPr sz="900" b="1">
                <a:solidFill>
                  <a:srgbClr val="55C5D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Facial Recognition Attendance System</dc:title>
  <dc:subject>Project overview, methodology, results, and conclusions</dc:subject>
  <dc:creator>Project Presentation</dc:creator>
  <cp:keywords>attendance, face recognition, Flask, OpenCV, YuNet, SFace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