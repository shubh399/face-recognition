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E9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BH MAHETA" userId="ada3b56063bf8f18" providerId="LiveId" clId="{5B190A9B-6941-47AA-A287-3B4A229F6A0B}"/>
    <pc:docChg chg="modSld">
      <pc:chgData name="SHUBH MAHETA" userId="ada3b56063bf8f18" providerId="LiveId" clId="{5B190A9B-6941-47AA-A287-3B4A229F6A0B}" dt="2026-10-21T04:02:40.069" v="29" actId="403"/>
      <pc:docMkLst>
        <pc:docMk/>
      </pc:docMkLst>
      <pc:sldChg chg="modSp mod">
        <pc:chgData name="SHUBH MAHETA" userId="ada3b56063bf8f18" providerId="LiveId" clId="{5B190A9B-6941-47AA-A287-3B4A229F6A0B}" dt="2026-10-21T04:02:40.069" v="29" actId="403"/>
        <pc:sldMkLst>
          <pc:docMk/>
          <pc:sldMk cId="0" sldId="256"/>
        </pc:sldMkLst>
        <pc:spChg chg="mod">
          <ac:chgData name="SHUBH MAHETA" userId="ada3b56063bf8f18" providerId="LiveId" clId="{5B190A9B-6941-47AA-A287-3B4A229F6A0B}" dt="2026-10-21T04:02:40.069" v="29" actId="403"/>
          <ac:spMkLst>
            <pc:docMk/>
            <pc:sldMk cId="0" sldId="256"/>
            <ac:spMk id="20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412480" y="868680"/>
            <a:ext cx="2057400" cy="2057400"/>
          </a:xfrm>
          <a:prstGeom prst="ellipse">
            <a:avLst/>
          </a:prstGeom>
          <a:solidFill>
            <a:srgbClr val="183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00" y="1572768"/>
            <a:ext cx="1042415" cy="1042415"/>
          </a:xfrm>
          <a:prstGeom prst="ellipse">
            <a:avLst/>
          </a:prstGeom>
          <a:solidFill>
            <a:srgbClr val="1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454896" y="1883664"/>
            <a:ext cx="420624" cy="420624"/>
          </a:xfrm>
          <a:prstGeom prst="ellipse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06640" y="3794760"/>
            <a:ext cx="1353312" cy="502920"/>
          </a:xfrm>
          <a:prstGeom prst="roundRect">
            <a:avLst>
              <a:gd name="adj" fmla="val 12000"/>
            </a:avLst>
          </a:prstGeom>
          <a:solidFill>
            <a:srgbClr val="183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43215" y="3858768"/>
            <a:ext cx="1280160" cy="34747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900" b="1">
                <a:solidFill>
                  <a:srgbClr val="55C5D0"/>
                </a:solidFill>
                <a:latin typeface="Aptos"/>
              </a:rPr>
              <a:t>ENROLL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759952" y="4050792"/>
            <a:ext cx="155448" cy="0"/>
          </a:xfrm>
          <a:prstGeom prst="line">
            <a:avLst/>
          </a:prstGeom>
          <a:ln w="17780">
            <a:solidFill>
              <a:srgbClr val="55C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915400" y="3794760"/>
            <a:ext cx="1353312" cy="502920"/>
          </a:xfrm>
          <a:prstGeom prst="roundRect">
            <a:avLst>
              <a:gd name="adj" fmla="val 12000"/>
            </a:avLst>
          </a:prstGeom>
          <a:solidFill>
            <a:srgbClr val="183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51976" y="3858768"/>
            <a:ext cx="1280160" cy="34747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900" b="1">
                <a:solidFill>
                  <a:srgbClr val="10A89A"/>
                </a:solidFill>
                <a:latin typeface="Aptos"/>
              </a:rPr>
              <a:t>RECOGNIZE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268712" y="4050792"/>
            <a:ext cx="155448" cy="0"/>
          </a:xfrm>
          <a:prstGeom prst="line">
            <a:avLst/>
          </a:prstGeom>
          <a:ln w="17780">
            <a:solidFill>
              <a:srgbClr val="55C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424160" y="3794760"/>
            <a:ext cx="1353312" cy="502920"/>
          </a:xfrm>
          <a:prstGeom prst="roundRect">
            <a:avLst>
              <a:gd name="adj" fmla="val 12000"/>
            </a:avLst>
          </a:prstGeom>
          <a:solidFill>
            <a:srgbClr val="183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460736" y="3858768"/>
            <a:ext cx="1280160" cy="34747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900" b="1">
                <a:solidFill>
                  <a:srgbClr val="F3B74E"/>
                </a:solidFill>
                <a:latin typeface="Aptos"/>
              </a:rPr>
              <a:t>RECORD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1792"/>
            <a:ext cx="5943600" cy="29260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1100" b="1">
                <a:solidFill>
                  <a:srgbClr val="55C5D0"/>
                </a:solidFill>
                <a:latin typeface="Aptos"/>
              </a:rPr>
              <a:t>PROJECT PRESENTATION  / 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1325880"/>
            <a:ext cx="7132320" cy="1508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Digital Facial
Recognition Attendance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3127248"/>
            <a:ext cx="5989320" cy="8412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800" b="0">
                <a:solidFill>
                  <a:srgbClr val="D5E2EA"/>
                </a:solidFill>
                <a:latin typeface="Aptos"/>
              </a:rPr>
              <a:t>A local, browser-based application that uses face recognition to support student attendance capture and review.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" y="4882896"/>
            <a:ext cx="5669280" cy="27432"/>
          </a:xfrm>
          <a:prstGeom prst="rect">
            <a:avLst/>
          </a:prstGeom>
          <a:solidFill>
            <a:srgbClr val="1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9536" y="5074920"/>
            <a:ext cx="5852160" cy="47548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1000" b="1">
                <a:solidFill>
                  <a:srgbClr val="55C5D0"/>
                </a:solidFill>
                <a:latin typeface="Aptos"/>
              </a:rPr>
              <a:t>PROJECT OVERVIEW  •  METHODOLOGY  •  RESULTS  •  CONCLUSIONS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6190488"/>
            <a:ext cx="5212080" cy="2286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1100" b="0">
                <a:solidFill>
                  <a:srgbClr val="AFC3D0"/>
                </a:solidFill>
                <a:latin typeface="Aptos"/>
              </a:rPr>
              <a:t>Flask  |  SQLite  |  OpenCV YuNet + SFace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0647" y="4694312"/>
            <a:ext cx="4389120" cy="190411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55C5D0"/>
                </a:solidFill>
                <a:latin typeface="Aptos"/>
              </a:defRPr>
            </a:pPr>
            <a:r>
              <a:rPr sz="1600" dirty="0"/>
              <a:t>PROJECT TEAM</a:t>
            </a:r>
          </a:p>
          <a:p>
            <a:pPr marL="342900" indent="-342900">
              <a:spcAft>
                <a:spcPts val="900"/>
              </a:spcAft>
              <a:buFont typeface="+mj-lt"/>
              <a:buAutoNum type="arabicPeriod"/>
              <a:defRPr sz="1300" b="1">
                <a:solidFill>
                  <a:srgbClr val="FFFFFF"/>
                </a:solidFill>
                <a:latin typeface="Aptos"/>
              </a:defRPr>
            </a:pPr>
            <a:r>
              <a:rPr sz="1600" dirty="0"/>
              <a:t>Maheta Shubh Prakashbhai    </a:t>
            </a:r>
            <a:endParaRPr lang="en-US" sz="1600" dirty="0"/>
          </a:p>
          <a:p>
            <a:pPr marL="342900" indent="-342900">
              <a:spcAft>
                <a:spcPts val="900"/>
              </a:spcAft>
              <a:buFont typeface="+mj-lt"/>
              <a:buAutoNum type="arabicPeriod"/>
              <a:defRPr sz="1300" b="1">
                <a:solidFill>
                  <a:srgbClr val="FFFFFF"/>
                </a:solidFill>
                <a:latin typeface="Aptos"/>
              </a:defRPr>
            </a:pPr>
            <a:r>
              <a:rPr sz="1600" dirty="0"/>
              <a:t>Lakhani Aum A</a:t>
            </a:r>
            <a:endParaRPr lang="en-US" sz="1600" dirty="0"/>
          </a:p>
          <a:p>
            <a:pPr>
              <a:spcAft>
                <a:spcPts val="9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endParaRPr dirty="0"/>
          </a:p>
          <a:p>
            <a:pPr>
              <a:spcAft>
                <a:spcPts val="0"/>
              </a:spcAft>
              <a:defRPr sz="1100">
                <a:solidFill>
                  <a:srgbClr val="D5E2EA"/>
                </a:solidFill>
                <a:latin typeface="Aptos"/>
              </a:defRPr>
            </a:pPr>
            <a:r>
              <a:rPr sz="1600" dirty="0">
                <a:solidFill>
                  <a:srgbClr val="55E9CD"/>
                </a:solidFill>
              </a:rPr>
              <a:t>MENTOR</a:t>
            </a:r>
            <a:r>
              <a:rPr sz="1400" dirty="0"/>
              <a:t>  </a:t>
            </a:r>
            <a:endParaRPr lang="en-US" sz="1400" dirty="0"/>
          </a:p>
          <a:p>
            <a:pPr marL="285750" indent="-285750">
              <a:spcAft>
                <a:spcPts val="0"/>
              </a:spcAft>
              <a:buFont typeface="Wingdings" panose="05000000000000000000" pitchFamily="2" charset="2"/>
              <a:buChar char="Ø"/>
              <a:defRPr sz="1100">
                <a:solidFill>
                  <a:srgbClr val="D5E2EA"/>
                </a:solidFill>
                <a:latin typeface="Aptos"/>
              </a:defRPr>
            </a:pPr>
            <a:r>
              <a:rPr sz="1400" dirty="0"/>
              <a:t> </a:t>
            </a:r>
            <a:r>
              <a:rPr sz="1600" dirty="0"/>
              <a:t>Chahan Sir</a:t>
            </a:r>
            <a:endParaRPr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9509760" cy="21945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900" b="1">
                <a:solidFill>
                  <a:srgbClr val="10A89A"/>
                </a:solidFill>
                <a:latin typeface="Aptos"/>
              </a:rPr>
              <a:t>CONTEXT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66928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2700" b="1">
                <a:solidFill>
                  <a:srgbClr val="10243A"/>
                </a:solidFill>
                <a:latin typeface="Aptos"/>
              </a:rPr>
              <a:t>Why automate attendance?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06424"/>
            <a:ext cx="10881360" cy="34747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1200" b="0">
                <a:solidFill>
                  <a:srgbClr val="607386"/>
                </a:solidFill>
                <a:latin typeface="Aptos"/>
              </a:rPr>
              <a:t>Reduce routine roll-call effort while keeping attendance records searchable.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D9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9672"/>
            <a:ext cx="713232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800" b="0">
                <a:solidFill>
                  <a:srgbClr val="607386"/>
                </a:solidFill>
                <a:latin typeface="Aptos"/>
              </a:rPr>
              <a:t>DIGITAL FACIAL RECOGNITION ATTENDANCE SYSTEM  |  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2240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r"/>
            <a:r>
              <a:rPr sz="900" b="1">
                <a:solidFill>
                  <a:srgbClr val="10A89A"/>
                </a:solidFill>
                <a:latin typeface="Aptos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93008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64008" cy="1828800"/>
          </a:xfrm>
          <a:prstGeom prst="rect">
            <a:avLst/>
          </a:prstGeom>
          <a:solidFill>
            <a:srgbClr val="55C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874519"/>
            <a:ext cx="3127248" cy="34747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1600" b="1">
                <a:solidFill>
                  <a:srgbClr val="10243A"/>
                </a:solidFill>
                <a:latin typeface="Aptos"/>
              </a:rPr>
              <a:t>The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86000"/>
            <a:ext cx="3127248" cy="11887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0">
                <a:solidFill>
                  <a:srgbClr val="607386"/>
                </a:solidFill>
                <a:latin typeface="Aptos"/>
              </a:rPr>
              <a:t>Manual roll calls take class time and make record consolidation and follow-up harder.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755648"/>
            <a:ext cx="3493008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61688" y="1755648"/>
            <a:ext cx="64008" cy="1828800"/>
          </a:xfrm>
          <a:prstGeom prst="rect">
            <a:avLst/>
          </a:prstGeom>
          <a:solidFill>
            <a:srgbClr val="1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44568" y="1874519"/>
            <a:ext cx="3127248" cy="34747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1600" b="1">
                <a:solidFill>
                  <a:srgbClr val="10243A"/>
                </a:solidFill>
                <a:latin typeface="Aptos"/>
              </a:rPr>
              <a:t>The project goal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286000"/>
            <a:ext cx="3127248" cy="11887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0">
                <a:solidFill>
                  <a:srgbClr val="607386"/>
                </a:solidFill>
                <a:latin typeface="Aptos"/>
              </a:rPr>
              <a:t>Build a browser-based workflow for student enrollment, live face matching, and attendance review.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7575" y="1755648"/>
            <a:ext cx="3493008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37575" y="1755648"/>
            <a:ext cx="64008" cy="1828800"/>
          </a:xfrm>
          <a:prstGeom prst="rect">
            <a:avLst/>
          </a:prstGeom>
          <a:solidFill>
            <a:srgbClr val="F3B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0455" y="1874519"/>
            <a:ext cx="3127248" cy="34747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1600" b="1">
                <a:solidFill>
                  <a:srgbClr val="10243A"/>
                </a:solidFill>
                <a:latin typeface="Aptos"/>
              </a:rPr>
              <a:t>The intended outcome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0455" y="2286000"/>
            <a:ext cx="3127248" cy="11887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0">
                <a:solidFill>
                  <a:srgbClr val="607386"/>
                </a:solidFill>
                <a:latin typeface="Aptos"/>
              </a:rPr>
              <a:t>A locally operated prototype with daily duplicate prevention, dashboard summaries, filters, and CSV export.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986784"/>
            <a:ext cx="2834640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1000" b="1">
                <a:solidFill>
                  <a:srgbClr val="10A89A"/>
                </a:solidFill>
                <a:latin typeface="Aptos"/>
              </a:rPr>
              <a:t>DESIGN PRINCIPLES</a:t>
            </a:r>
          </a:p>
        </p:txBody>
      </p:sp>
      <p:sp>
        <p:nvSpPr>
          <p:cNvPr id="22" name="Oval 21"/>
          <p:cNvSpPr/>
          <p:nvPr/>
        </p:nvSpPr>
        <p:spPr>
          <a:xfrm>
            <a:off x="804672" y="4480560"/>
            <a:ext cx="201168" cy="201168"/>
          </a:xfrm>
          <a:prstGeom prst="ellipse">
            <a:avLst/>
          </a:prstGeom>
          <a:solidFill>
            <a:srgbClr val="1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15568" y="4416552"/>
            <a:ext cx="9784080" cy="34747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1500" b="0">
                <a:solidFill>
                  <a:srgbClr val="182B3D"/>
                </a:solidFill>
                <a:latin typeface="Aptos"/>
              </a:rPr>
              <a:t>Admin-gated access to app pages and APIs</a:t>
            </a:r>
          </a:p>
        </p:txBody>
      </p:sp>
      <p:sp>
        <p:nvSpPr>
          <p:cNvPr id="24" name="Oval 23"/>
          <p:cNvSpPr/>
          <p:nvPr/>
        </p:nvSpPr>
        <p:spPr>
          <a:xfrm>
            <a:off x="804672" y="4965192"/>
            <a:ext cx="201168" cy="201168"/>
          </a:xfrm>
          <a:prstGeom prst="ellipse">
            <a:avLst/>
          </a:prstGeom>
          <a:solidFill>
            <a:srgbClr val="1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15568" y="4901184"/>
            <a:ext cx="9784080" cy="34747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1500" b="0">
                <a:solidFill>
                  <a:srgbClr val="182B3D"/>
                </a:solidFill>
                <a:latin typeface="Aptos"/>
              </a:rPr>
              <a:t>One successful attendance entry per student per UTC day</a:t>
            </a:r>
          </a:p>
        </p:txBody>
      </p:sp>
      <p:sp>
        <p:nvSpPr>
          <p:cNvPr id="26" name="Oval 25"/>
          <p:cNvSpPr/>
          <p:nvPr/>
        </p:nvSpPr>
        <p:spPr>
          <a:xfrm>
            <a:off x="804672" y="5449824"/>
            <a:ext cx="201168" cy="201168"/>
          </a:xfrm>
          <a:prstGeom prst="ellipse">
            <a:avLst/>
          </a:prstGeom>
          <a:solidFill>
            <a:srgbClr val="F3B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15568" y="5385816"/>
            <a:ext cx="9784080" cy="34747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1500" b="0">
                <a:solidFill>
                  <a:srgbClr val="182B3D"/>
                </a:solidFill>
                <a:latin typeface="Aptos"/>
              </a:rPr>
              <a:t>Keep biometric data local; obtain consent and protect retention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9509760" cy="21945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900" b="1">
                <a:solidFill>
                  <a:srgbClr val="10A89A"/>
                </a:solidFill>
                <a:latin typeface="Aptos"/>
              </a:rPr>
              <a:t>SOLUTION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66928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2700" b="1">
                <a:solidFill>
                  <a:srgbClr val="10243A"/>
                </a:solidFill>
                <a:latin typeface="Aptos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06424"/>
            <a:ext cx="10881360" cy="34747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1200" b="0">
                <a:solidFill>
                  <a:srgbClr val="607386"/>
                </a:solidFill>
                <a:latin typeface="Aptos"/>
              </a:rPr>
              <a:t>Five connected capabilities take an administrator from registration to usable records.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D9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9672"/>
            <a:ext cx="713232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800" b="0">
                <a:solidFill>
                  <a:srgbClr val="607386"/>
                </a:solidFill>
                <a:latin typeface="Aptos"/>
              </a:rPr>
              <a:t>DIGITAL FACIAL RECOGNITION ATTENDANCE SYSTEM  |  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2240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r"/>
            <a:r>
              <a:rPr sz="900" b="1">
                <a:solidFill>
                  <a:srgbClr val="10A89A"/>
                </a:solidFill>
                <a:latin typeface="Aptos"/>
              </a:rPr>
              <a:t>03</a:t>
            </a:r>
          </a:p>
        </p:txBody>
      </p:sp>
      <p:sp>
        <p:nvSpPr>
          <p:cNvPr id="9" name="Oval 8"/>
          <p:cNvSpPr/>
          <p:nvPr/>
        </p:nvSpPr>
        <p:spPr>
          <a:xfrm>
            <a:off x="1252728" y="1847088"/>
            <a:ext cx="530352" cy="530352"/>
          </a:xfrm>
          <a:prstGeom prst="ellipse">
            <a:avLst/>
          </a:prstGeom>
          <a:solidFill>
            <a:srgbClr val="55C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61872" y="1911095"/>
            <a:ext cx="512064" cy="34747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92224" y="2112264"/>
            <a:ext cx="996696" cy="0"/>
          </a:xfrm>
          <a:prstGeom prst="line">
            <a:avLst/>
          </a:prstGeom>
          <a:ln w="25400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58952" y="2615184"/>
            <a:ext cx="1600200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700" b="1">
                <a:solidFill>
                  <a:srgbClr val="10243A"/>
                </a:solidFill>
                <a:latin typeface="Aptos"/>
              </a:rPr>
              <a:t>Enroll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108960"/>
            <a:ext cx="1993392" cy="10515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200" b="0">
                <a:solidFill>
                  <a:srgbClr val="607386"/>
                </a:solidFill>
                <a:latin typeface="Aptos"/>
              </a:rPr>
              <a:t>Create a student profile and capture webcam frames.</a:t>
            </a:r>
          </a:p>
        </p:txBody>
      </p:sp>
      <p:sp>
        <p:nvSpPr>
          <p:cNvPr id="14" name="Oval 13"/>
          <p:cNvSpPr/>
          <p:nvPr/>
        </p:nvSpPr>
        <p:spPr>
          <a:xfrm>
            <a:off x="3520439" y="1847088"/>
            <a:ext cx="530352" cy="530352"/>
          </a:xfrm>
          <a:prstGeom prst="ellipse">
            <a:avLst/>
          </a:prstGeom>
          <a:solidFill>
            <a:srgbClr val="1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29584" y="1911095"/>
            <a:ext cx="512064" cy="34747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059935" y="2112264"/>
            <a:ext cx="996696" cy="0"/>
          </a:xfrm>
          <a:prstGeom prst="line">
            <a:avLst/>
          </a:prstGeom>
          <a:ln w="25400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026663" y="2615184"/>
            <a:ext cx="1600200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700" b="1">
                <a:solidFill>
                  <a:srgbClr val="10243A"/>
                </a:solidFill>
                <a:latin typeface="Aptos"/>
              </a:rPr>
              <a:t>Train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39" y="3108960"/>
            <a:ext cx="1993392" cy="10515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200" b="0">
                <a:solidFill>
                  <a:srgbClr val="607386"/>
                </a:solidFill>
                <a:latin typeface="Aptos"/>
              </a:rPr>
              <a:t>Detect faces and build one normalized embedding per student.</a:t>
            </a:r>
          </a:p>
        </p:txBody>
      </p:sp>
      <p:sp>
        <p:nvSpPr>
          <p:cNvPr id="19" name="Oval 18"/>
          <p:cNvSpPr/>
          <p:nvPr/>
        </p:nvSpPr>
        <p:spPr>
          <a:xfrm>
            <a:off x="5788152" y="1847088"/>
            <a:ext cx="530352" cy="530352"/>
          </a:xfrm>
          <a:prstGeom prst="ellipse">
            <a:avLst/>
          </a:prstGeom>
          <a:solidFill>
            <a:srgbClr val="F3B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97296" y="1911095"/>
            <a:ext cx="512064" cy="34747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327648" y="2112264"/>
            <a:ext cx="996696" cy="0"/>
          </a:xfrm>
          <a:prstGeom prst="line">
            <a:avLst/>
          </a:prstGeom>
          <a:ln w="25400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294376" y="2615184"/>
            <a:ext cx="1600200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700" b="1">
                <a:solidFill>
                  <a:srgbClr val="10243A"/>
                </a:solidFill>
                <a:latin typeface="Aptos"/>
              </a:rPr>
              <a:t>Recognize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02352" y="3108960"/>
            <a:ext cx="1993392" cy="10515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200" b="0">
                <a:solidFill>
                  <a:srgbClr val="607386"/>
                </a:solidFill>
                <a:latin typeface="Aptos"/>
              </a:rPr>
              <a:t>Compare a live face embedding with enrolled profiles.</a:t>
            </a:r>
          </a:p>
        </p:txBody>
      </p:sp>
      <p:sp>
        <p:nvSpPr>
          <p:cNvPr id="24" name="Oval 23"/>
          <p:cNvSpPr/>
          <p:nvPr/>
        </p:nvSpPr>
        <p:spPr>
          <a:xfrm>
            <a:off x="8055863" y="1847088"/>
            <a:ext cx="530352" cy="530352"/>
          </a:xfrm>
          <a:prstGeom prst="ellipse">
            <a:avLst/>
          </a:prstGeom>
          <a:solidFill>
            <a:srgbClr val="1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65007" y="1911095"/>
            <a:ext cx="512064" cy="34747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595359" y="2112264"/>
            <a:ext cx="996696" cy="0"/>
          </a:xfrm>
          <a:prstGeom prst="line">
            <a:avLst/>
          </a:prstGeom>
          <a:ln w="25400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562088" y="2615184"/>
            <a:ext cx="1600200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700" b="1">
                <a:solidFill>
                  <a:srgbClr val="10243A"/>
                </a:solidFill>
                <a:latin typeface="Aptos"/>
              </a:rPr>
              <a:t>Record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70063" y="3108960"/>
            <a:ext cx="1993392" cy="10515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200" b="0">
                <a:solidFill>
                  <a:srgbClr val="607386"/>
                </a:solidFill>
                <a:latin typeface="Aptos"/>
              </a:rPr>
              <a:t>Write a timestamped attendance event, once each UTC day.</a:t>
            </a:r>
          </a:p>
        </p:txBody>
      </p:sp>
      <p:sp>
        <p:nvSpPr>
          <p:cNvPr id="29" name="Oval 28"/>
          <p:cNvSpPr/>
          <p:nvPr/>
        </p:nvSpPr>
        <p:spPr>
          <a:xfrm>
            <a:off x="10323576" y="1847088"/>
            <a:ext cx="530352" cy="530352"/>
          </a:xfrm>
          <a:prstGeom prst="ellipse">
            <a:avLst/>
          </a:prstGeom>
          <a:solidFill>
            <a:srgbClr val="55C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19" y="1911095"/>
            <a:ext cx="512064" cy="34747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2615184"/>
            <a:ext cx="1600200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700" b="1">
                <a:solidFill>
                  <a:srgbClr val="10243A"/>
                </a:solidFill>
                <a:latin typeface="Aptos"/>
              </a:rPr>
              <a:t>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3108960"/>
            <a:ext cx="1993392" cy="10515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200" b="0">
                <a:solidFill>
                  <a:srgbClr val="607386"/>
                </a:solidFill>
                <a:latin typeface="Aptos"/>
              </a:rPr>
              <a:t>View charts, filter records, or export CSV.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" y="4773168"/>
            <a:ext cx="10479024" cy="850392"/>
          </a:xfrm>
          <a:prstGeom prst="roundRect">
            <a:avLst>
              <a:gd name="adj" fmla="val 12000"/>
            </a:avLst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78992" y="4928616"/>
            <a:ext cx="10021824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Aptos"/>
              </a:rPr>
              <a:t>Core idea: transform webcam frames into a face embedding, compare by cosine similarity, and store only the attendance event when the match clears the configured threshold.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9509760" cy="21945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900" b="1">
                <a:solidFill>
                  <a:srgbClr val="10A89A"/>
                </a:solidFill>
                <a:latin typeface="Aptos"/>
              </a:rPr>
              <a:t>HOW THE PARTS 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66928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2700" b="1">
                <a:solidFill>
                  <a:srgbClr val="10243A"/>
                </a:solidFill>
                <a:latin typeface="Aptos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06424"/>
            <a:ext cx="10881360" cy="34747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1200" b="0">
                <a:solidFill>
                  <a:srgbClr val="607386"/>
                </a:solidFill>
                <a:latin typeface="Aptos"/>
              </a:rPr>
              <a:t>Browser camera capture sends frames to the Flask application; local model and database support processing.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D9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9672"/>
            <a:ext cx="713232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800" b="0">
                <a:solidFill>
                  <a:srgbClr val="607386"/>
                </a:solidFill>
                <a:latin typeface="Aptos"/>
              </a:rPr>
              <a:t>DIGITAL FACIAL RECOGNITION ATTENDANCE SYSTEM  |  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2240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r"/>
            <a:r>
              <a:rPr sz="900" b="1">
                <a:solidFill>
                  <a:srgbClr val="10A89A"/>
                </a:solidFill>
                <a:latin typeface="Aptos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856231"/>
            <a:ext cx="2176272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020824"/>
            <a:ext cx="182880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500" b="1">
                <a:solidFill>
                  <a:srgbClr val="10243A"/>
                </a:solidFill>
                <a:latin typeface="Aptos"/>
              </a:rPr>
              <a:t>BROWSER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624328"/>
            <a:ext cx="1783080" cy="117043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300" b="0">
                <a:solidFill>
                  <a:srgbClr val="607386"/>
                </a:solidFill>
                <a:latin typeface="Aptos"/>
              </a:rPr>
              <a:t>Admin pages
Webcam capture
Dashboard &amp; records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75887" y="1655064"/>
            <a:ext cx="2468880" cy="2724912"/>
          </a:xfrm>
          <a:prstGeom prst="roundRect">
            <a:avLst>
              <a:gd name="adj" fmla="val 12000"/>
            </a:avLst>
          </a:prstGeom>
          <a:solidFill>
            <a:srgbClr val="EA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77056" y="1856231"/>
            <a:ext cx="2039112" cy="40233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500" b="1">
                <a:solidFill>
                  <a:srgbClr val="10243A"/>
                </a:solidFill>
                <a:latin typeface="Aptos"/>
              </a:rPr>
              <a:t>FLASK APP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68496" y="2432304"/>
            <a:ext cx="1856231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41648" y="2459736"/>
            <a:ext cx="1700784" cy="29260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000" b="0">
                <a:solidFill>
                  <a:srgbClr val="182B3D"/>
                </a:solidFill>
                <a:latin typeface="Aptos"/>
              </a:rPr>
              <a:t>Authentication + CSRF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68496" y="2953512"/>
            <a:ext cx="1856231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041648" y="2980944"/>
            <a:ext cx="1700784" cy="29260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000" b="0">
                <a:solidFill>
                  <a:srgbClr val="182B3D"/>
                </a:solidFill>
                <a:latin typeface="Aptos"/>
              </a:rPr>
              <a:t>Enrollment + 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68496" y="3474720"/>
            <a:ext cx="1856231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041648" y="3502152"/>
            <a:ext cx="1700784" cy="29260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000" b="0">
                <a:solidFill>
                  <a:srgbClr val="182B3D"/>
                </a:solidFill>
                <a:latin typeface="Aptos"/>
              </a:rPr>
              <a:t>Attendance + CSV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94576" y="1655064"/>
            <a:ext cx="2039112" cy="2724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40880" y="1856231"/>
            <a:ext cx="1737360" cy="40233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10243A"/>
                </a:solidFill>
                <a:latin typeface="Aptos"/>
              </a:rPr>
              <a:t>FACE PIPELINE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04888" y="2432304"/>
            <a:ext cx="1618488" cy="365760"/>
          </a:xfrm>
          <a:prstGeom prst="roundRect">
            <a:avLst>
              <a:gd name="adj" fmla="val 12000"/>
            </a:avLst>
          </a:prstGeom>
          <a:solidFill>
            <a:srgbClr val="E7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59752" y="2459736"/>
            <a:ext cx="1508760" cy="29260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000" b="0">
                <a:solidFill>
                  <a:srgbClr val="182B3D"/>
                </a:solidFill>
                <a:latin typeface="Aptos"/>
              </a:rPr>
              <a:t>YuNet detect + align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04888" y="2953512"/>
            <a:ext cx="1618488" cy="365760"/>
          </a:xfrm>
          <a:prstGeom prst="roundRect">
            <a:avLst>
              <a:gd name="adj" fmla="val 12000"/>
            </a:avLst>
          </a:prstGeom>
          <a:solidFill>
            <a:srgbClr val="E7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59752" y="2980944"/>
            <a:ext cx="1508760" cy="29260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000" b="0">
                <a:solidFill>
                  <a:srgbClr val="182B3D"/>
                </a:solidFill>
                <a:latin typeface="Aptos"/>
              </a:rPr>
              <a:t>SFace feature vector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04888" y="3474720"/>
            <a:ext cx="1618488" cy="365760"/>
          </a:xfrm>
          <a:prstGeom prst="roundRect">
            <a:avLst>
              <a:gd name="adj" fmla="val 12000"/>
            </a:avLst>
          </a:prstGeom>
          <a:solidFill>
            <a:srgbClr val="E7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59752" y="3502152"/>
            <a:ext cx="1508760" cy="29260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000" b="0">
                <a:solidFill>
                  <a:srgbClr val="182B3D"/>
                </a:solidFill>
                <a:latin typeface="Aptos"/>
              </a:rPr>
              <a:t>Cosine similarity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37776" y="1746504"/>
            <a:ext cx="1719072" cy="932688"/>
          </a:xfrm>
          <a:prstGeom prst="roundRect">
            <a:avLst>
              <a:gd name="adj" fmla="val 12000"/>
            </a:avLst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56648" y="1920240"/>
            <a:ext cx="1472184" cy="60350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SQLite
profiles + records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37776" y="3081528"/>
            <a:ext cx="1719072" cy="932688"/>
          </a:xfrm>
          <a:prstGeom prst="roundRect">
            <a:avLst>
              <a:gd name="adj" fmla="val 12000"/>
            </a:avLst>
          </a:prstGeom>
          <a:solidFill>
            <a:srgbClr val="183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756648" y="3255264"/>
            <a:ext cx="1472184" cy="60350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NPZ
face embeddings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971800" y="3008376"/>
            <a:ext cx="676656" cy="0"/>
          </a:xfrm>
          <a:prstGeom prst="line">
            <a:avLst/>
          </a:prstGeom>
          <a:ln w="25400">
            <a:solidFill>
              <a:srgbClr val="10A8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163056" y="3008376"/>
            <a:ext cx="704088" cy="0"/>
          </a:xfrm>
          <a:prstGeom prst="line">
            <a:avLst/>
          </a:prstGeom>
          <a:ln w="25400">
            <a:solidFill>
              <a:srgbClr val="10A8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942832" y="2212848"/>
            <a:ext cx="658368" cy="0"/>
          </a:xfrm>
          <a:prstGeom prst="line">
            <a:avLst/>
          </a:prstGeom>
          <a:ln w="25400">
            <a:solidFill>
              <a:srgbClr val="F3B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942832" y="3529584"/>
            <a:ext cx="658368" cy="0"/>
          </a:xfrm>
          <a:prstGeom prst="line">
            <a:avLst/>
          </a:prstGeom>
          <a:ln w="25400">
            <a:solidFill>
              <a:srgbClr val="F3B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59536" y="4828032"/>
            <a:ext cx="10479024" cy="65836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300" b="0">
                <a:solidFill>
                  <a:srgbClr val="607386"/>
                </a:solidFill>
                <a:latin typeface="Aptos"/>
              </a:rPr>
              <a:t>Local-first data flow  •  Enrollment photos stored as SQLite BLOBs  •  Model trained in the background with visible status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9509760" cy="21945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900" b="1">
                <a:solidFill>
                  <a:srgbClr val="10A89A"/>
                </a:solidFill>
                <a:latin typeface="Aptos"/>
              </a:rPr>
              <a:t>IMPLEMENTATION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66928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2700" b="1">
                <a:solidFill>
                  <a:srgbClr val="10243A"/>
                </a:solidFill>
                <a:latin typeface="Aptos"/>
              </a:rPr>
              <a:t>Methodology: enrollment to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06424"/>
            <a:ext cx="10881360" cy="34747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1200" b="0">
                <a:solidFill>
                  <a:srgbClr val="607386"/>
                </a:solidFill>
                <a:latin typeface="Aptos"/>
              </a:rPr>
              <a:t>Enrollment photographs become searchable face templates through a background training step.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D9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9672"/>
            <a:ext cx="713232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800" b="0">
                <a:solidFill>
                  <a:srgbClr val="607386"/>
                </a:solidFill>
                <a:latin typeface="Aptos"/>
              </a:rPr>
              <a:t>DIGITAL FACIAL RECOGNITION ATTENDANCE SYSTEM  |  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2240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r"/>
            <a:r>
              <a:rPr sz="900" b="1">
                <a:solidFill>
                  <a:srgbClr val="10A89A"/>
                </a:solidFill>
                <a:latin typeface="Aptos"/>
              </a:rPr>
              <a:t>05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1764792"/>
            <a:ext cx="420624" cy="420624"/>
          </a:xfrm>
          <a:prstGeom prst="ellipse">
            <a:avLst/>
          </a:prstGeom>
          <a:solidFill>
            <a:srgbClr val="55C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" y="1810512"/>
            <a:ext cx="402336" cy="25603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33271" y="2203704"/>
            <a:ext cx="0" cy="338328"/>
          </a:xfrm>
          <a:prstGeom prst="line">
            <a:avLst/>
          </a:prstGeom>
          <a:ln w="20320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499616" y="1719072"/>
            <a:ext cx="2103120" cy="39319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1600" b="1">
                <a:solidFill>
                  <a:srgbClr val="10243A"/>
                </a:solidFill>
                <a:latin typeface="Aptos"/>
              </a:rPr>
              <a:t>Register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719072"/>
            <a:ext cx="717804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1400" b="0">
                <a:solidFill>
                  <a:srgbClr val="607386"/>
                </a:solidFill>
                <a:latin typeface="Aptos"/>
              </a:rPr>
              <a:t>Save student identity fields in SQLite.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2596896"/>
            <a:ext cx="420624" cy="420624"/>
          </a:xfrm>
          <a:prstGeom prst="ellipse">
            <a:avLst/>
          </a:prstGeom>
          <a:solidFill>
            <a:srgbClr val="1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" y="2642616"/>
            <a:ext cx="402336" cy="25603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33271" y="3035808"/>
            <a:ext cx="0" cy="338328"/>
          </a:xfrm>
          <a:prstGeom prst="line">
            <a:avLst/>
          </a:prstGeom>
          <a:ln w="20320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99616" y="2551176"/>
            <a:ext cx="2103120" cy="39319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1600" b="1">
                <a:solidFill>
                  <a:srgbClr val="10243A"/>
                </a:solidFill>
                <a:latin typeface="Aptos"/>
              </a:rPr>
              <a:t>Capture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51176"/>
            <a:ext cx="717804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1400" b="0">
                <a:solidFill>
                  <a:srgbClr val="607386"/>
                </a:solidFill>
                <a:latin typeface="Aptos"/>
              </a:rPr>
              <a:t>Browser requests camera access and captures up to 50 frames.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3429000"/>
            <a:ext cx="420624" cy="420624"/>
          </a:xfrm>
          <a:prstGeom prst="ellipse">
            <a:avLst/>
          </a:prstGeom>
          <a:solidFill>
            <a:srgbClr val="F3B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" y="3474720"/>
            <a:ext cx="402336" cy="25603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33271" y="3867912"/>
            <a:ext cx="0" cy="338328"/>
          </a:xfrm>
          <a:prstGeom prst="line">
            <a:avLst/>
          </a:prstGeom>
          <a:ln w="20320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499616" y="3383280"/>
            <a:ext cx="2103120" cy="39319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1600" b="1">
                <a:solidFill>
                  <a:srgbClr val="10243A"/>
                </a:solidFill>
                <a:latin typeface="Aptos"/>
              </a:rPr>
              <a:t>Validate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383280"/>
            <a:ext cx="717804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1400" b="0">
                <a:solidFill>
                  <a:srgbClr val="607386"/>
                </a:solidFill>
                <a:latin typeface="Aptos"/>
              </a:rPr>
              <a:t>Reject invalid image bytes; store acceptable photos in the database.</a:t>
            </a:r>
          </a:p>
        </p:txBody>
      </p:sp>
      <p:sp>
        <p:nvSpPr>
          <p:cNvPr id="24" name="Oval 23"/>
          <p:cNvSpPr/>
          <p:nvPr/>
        </p:nvSpPr>
        <p:spPr>
          <a:xfrm>
            <a:off x="822960" y="4261103"/>
            <a:ext cx="420624" cy="420624"/>
          </a:xfrm>
          <a:prstGeom prst="ellipse">
            <a:avLst/>
          </a:prstGeom>
          <a:solidFill>
            <a:srgbClr val="1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2104" y="4306823"/>
            <a:ext cx="402336" cy="25603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33271" y="4700016"/>
            <a:ext cx="0" cy="338328"/>
          </a:xfrm>
          <a:prstGeom prst="line">
            <a:avLst/>
          </a:prstGeom>
          <a:ln w="20320">
            <a:solidFill>
              <a:srgbClr val="D9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499616" y="4215383"/>
            <a:ext cx="2103120" cy="39319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1600" b="1">
                <a:solidFill>
                  <a:srgbClr val="10243A"/>
                </a:solidFill>
                <a:latin typeface="Aptos"/>
              </a:rPr>
              <a:t>Detect + align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215383"/>
            <a:ext cx="717804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1400" b="0">
                <a:solidFill>
                  <a:srgbClr val="607386"/>
                </a:solidFill>
                <a:latin typeface="Aptos"/>
              </a:rPr>
              <a:t>YuNet locates a face; SFace aligns the face crop.</a:t>
            </a:r>
          </a:p>
        </p:txBody>
      </p:sp>
      <p:sp>
        <p:nvSpPr>
          <p:cNvPr id="29" name="Oval 28"/>
          <p:cNvSpPr/>
          <p:nvPr/>
        </p:nvSpPr>
        <p:spPr>
          <a:xfrm>
            <a:off x="822960" y="5093207"/>
            <a:ext cx="420624" cy="420624"/>
          </a:xfrm>
          <a:prstGeom prst="ellipse">
            <a:avLst/>
          </a:prstGeom>
          <a:solidFill>
            <a:srgbClr val="55C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2104" y="5138927"/>
            <a:ext cx="402336" cy="25603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99616" y="5047488"/>
            <a:ext cx="2103120" cy="39319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1600" b="1">
                <a:solidFill>
                  <a:srgbClr val="10243A"/>
                </a:solidFill>
                <a:latin typeface="Aptos"/>
              </a:rPr>
              <a:t>Build template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5047488"/>
            <a:ext cx="717804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1400" b="0">
                <a:solidFill>
                  <a:srgbClr val="607386"/>
                </a:solidFill>
                <a:latin typeface="Aptos"/>
              </a:rPr>
              <a:t>Normalize face embeddings, average per student, and save the NPZ model.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" y="5925312"/>
            <a:ext cx="10424160" cy="384048"/>
          </a:xfrm>
          <a:prstGeom prst="roundRect">
            <a:avLst>
              <a:gd name="adj" fmla="val 12000"/>
            </a:avLst>
          </a:prstGeom>
          <a:solidFill>
            <a:srgbClr val="E7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05840" y="5934456"/>
            <a:ext cx="10076688" cy="33832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100" b="0">
                <a:solidFill>
                  <a:srgbClr val="182B3D"/>
                </a:solidFill>
                <a:latin typeface="Aptos"/>
              </a:rPr>
              <a:t>Training status includes progress and a terminal success/error message; unusable images are counted as skipped.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9509760" cy="21945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900" b="1">
                <a:solidFill>
                  <a:srgbClr val="10A89A"/>
                </a:solidFill>
                <a:latin typeface="Aptos"/>
              </a:rPr>
              <a:t>DECISION &amp; ATTENDANCE RECORDING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66928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2700" b="1">
                <a:solidFill>
                  <a:srgbClr val="10243A"/>
                </a:solidFill>
                <a:latin typeface="Aptos"/>
              </a:rPr>
              <a:t>Methodology: live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06424"/>
            <a:ext cx="10881360" cy="34747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1200" b="0">
                <a:solidFill>
                  <a:srgbClr val="607386"/>
                </a:solidFill>
                <a:latin typeface="Aptos"/>
              </a:rPr>
              <a:t>The API returns recognition status and avoids a second daily entry for a matched student.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D9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9672"/>
            <a:ext cx="713232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800" b="0">
                <a:solidFill>
                  <a:srgbClr val="607386"/>
                </a:solidFill>
                <a:latin typeface="Aptos"/>
              </a:rPr>
              <a:t>DIGITAL FACIAL RECOGNITION ATTENDANCE SYSTEM  |  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2240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r"/>
            <a:r>
              <a:rPr sz="900" b="1">
                <a:solidFill>
                  <a:srgbClr val="10A89A"/>
                </a:solidFill>
                <a:latin typeface="Aptos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20824"/>
            <a:ext cx="1847088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2020824"/>
            <a:ext cx="1847088" cy="100584"/>
          </a:xfrm>
          <a:prstGeom prst="rect">
            <a:avLst/>
          </a:prstGeom>
          <a:solidFill>
            <a:srgbClr val="55C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2295144"/>
            <a:ext cx="1627632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300" b="1">
                <a:solidFill>
                  <a:srgbClr val="55C5D0"/>
                </a:solidFill>
                <a:latin typeface="Aptos"/>
              </a:rPr>
              <a:t>CAMERA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2706624"/>
            <a:ext cx="155448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200" b="0">
                <a:solidFill>
                  <a:srgbClr val="182B3D"/>
                </a:solidFill>
                <a:latin typeface="Aptos"/>
              </a:rPr>
              <a:t>Frame captured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42032" y="2724912"/>
            <a:ext cx="402336" cy="0"/>
          </a:xfrm>
          <a:prstGeom prst="line">
            <a:avLst/>
          </a:prstGeom>
          <a:ln w="19050">
            <a:solidFill>
              <a:srgbClr val="6073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90088" y="2020824"/>
            <a:ext cx="1847088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990088" y="2020824"/>
            <a:ext cx="1847088" cy="100584"/>
          </a:xfrm>
          <a:prstGeom prst="rect">
            <a:avLst/>
          </a:prstGeom>
          <a:solidFill>
            <a:srgbClr val="1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99816" y="2295144"/>
            <a:ext cx="1627632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300" b="1">
                <a:solidFill>
                  <a:srgbClr val="10A89A"/>
                </a:solidFill>
                <a:latin typeface="Aptos"/>
              </a:rPr>
              <a:t>EMBED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6392" y="2706624"/>
            <a:ext cx="155448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200" b="0">
                <a:solidFill>
                  <a:srgbClr val="182B3D"/>
                </a:solidFill>
                <a:latin typeface="Aptos"/>
              </a:rPr>
              <a:t>Detect + embed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46320" y="2724912"/>
            <a:ext cx="402336" cy="0"/>
          </a:xfrm>
          <a:prstGeom prst="line">
            <a:avLst/>
          </a:prstGeom>
          <a:ln w="19050">
            <a:solidFill>
              <a:srgbClr val="6073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294376" y="2020824"/>
            <a:ext cx="1847088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294376" y="2020824"/>
            <a:ext cx="1847088" cy="100584"/>
          </a:xfrm>
          <a:prstGeom prst="rect">
            <a:avLst/>
          </a:prstGeom>
          <a:solidFill>
            <a:srgbClr val="F3B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04104" y="2295144"/>
            <a:ext cx="1627632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300" b="1">
                <a:solidFill>
                  <a:srgbClr val="F3B74E"/>
                </a:solidFill>
                <a:latin typeface="Aptos"/>
              </a:rPr>
              <a:t>MATCH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2706624"/>
            <a:ext cx="155448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200" b="0">
                <a:solidFill>
                  <a:srgbClr val="182B3D"/>
                </a:solidFill>
                <a:latin typeface="Aptos"/>
              </a:rPr>
              <a:t>Compare enrolled vectors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50608" y="2724912"/>
            <a:ext cx="402336" cy="0"/>
          </a:xfrm>
          <a:prstGeom prst="line">
            <a:avLst/>
          </a:prstGeom>
          <a:ln w="19050">
            <a:solidFill>
              <a:srgbClr val="6073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598664" y="2020824"/>
            <a:ext cx="1847088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598664" y="2020824"/>
            <a:ext cx="1847088" cy="100584"/>
          </a:xfrm>
          <a:prstGeom prst="rect">
            <a:avLst/>
          </a:prstGeom>
          <a:solidFill>
            <a:srgbClr val="1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08392" y="2295144"/>
            <a:ext cx="1627632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300" b="1">
                <a:solidFill>
                  <a:srgbClr val="10A89A"/>
                </a:solidFill>
                <a:latin typeface="Aptos"/>
              </a:rPr>
              <a:t>GATE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44968" y="2706624"/>
            <a:ext cx="155448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200" b="0">
                <a:solidFill>
                  <a:srgbClr val="182B3D"/>
                </a:solidFill>
                <a:latin typeface="Aptos"/>
              </a:rPr>
              <a:t>Similarity ≥ 0.363?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454896" y="2724912"/>
            <a:ext cx="402336" cy="0"/>
          </a:xfrm>
          <a:prstGeom prst="line">
            <a:avLst/>
          </a:prstGeom>
          <a:ln w="19050">
            <a:solidFill>
              <a:srgbClr val="6073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902952" y="2020824"/>
            <a:ext cx="1847088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902952" y="2020824"/>
            <a:ext cx="1847088" cy="100584"/>
          </a:xfrm>
          <a:prstGeom prst="rect">
            <a:avLst/>
          </a:prstGeom>
          <a:solidFill>
            <a:srgbClr val="55C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12680" y="2295144"/>
            <a:ext cx="1627632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300" b="1">
                <a:solidFill>
                  <a:srgbClr val="55C5D0"/>
                </a:solidFill>
                <a:latin typeface="Aptos"/>
              </a:rPr>
              <a:t>WRITE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49256" y="2706624"/>
            <a:ext cx="155448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200" b="0">
                <a:solidFill>
                  <a:srgbClr val="182B3D"/>
                </a:solidFill>
                <a:latin typeface="Aptos"/>
              </a:rPr>
              <a:t>Insert once per UTC date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1832" y="3977639"/>
            <a:ext cx="4892040" cy="1060704"/>
          </a:xfrm>
          <a:prstGeom prst="roundRect">
            <a:avLst>
              <a:gd name="adj" fmla="val 12000"/>
            </a:avLst>
          </a:prstGeom>
          <a:solidFill>
            <a:srgbClr val="EA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70432" y="4151376"/>
            <a:ext cx="4434840" cy="6858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400" b="0">
                <a:solidFill>
                  <a:srgbClr val="182B3D"/>
                </a:solidFill>
                <a:latin typeface="Aptos"/>
              </a:rPr>
              <a:t>Match accepted: return student and similarity; record attendance if no daily entry exists.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91072" y="3977639"/>
            <a:ext cx="4892040" cy="1060704"/>
          </a:xfrm>
          <a:prstGeom prst="roundRect">
            <a:avLst>
              <a:gd name="adj" fmla="val 12000"/>
            </a:avLst>
          </a:prstGeom>
          <a:solidFill>
            <a:srgbClr val="FFF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10528" y="4151376"/>
            <a:ext cx="4443984" cy="6858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400" b="0">
                <a:solidFill>
                  <a:srgbClr val="182B3D"/>
                </a:solidFill>
                <a:latin typeface="Aptos"/>
              </a:rPr>
              <a:t>No match / already marked: return status without creating another attendance row.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486400"/>
            <a:ext cx="10332720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200" b="0">
                <a:solidFill>
                  <a:srgbClr val="607386"/>
                </a:solidFill>
                <a:latin typeface="Aptos"/>
              </a:rPr>
              <a:t>The configured threshold is a decision setting—not a measured accuracy score. Test and tune it using representative, consented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9509760" cy="21945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900" b="1">
                <a:solidFill>
                  <a:srgbClr val="10A89A"/>
                </a:solidFill>
                <a:latin typeface="Aptos"/>
              </a:rPr>
              <a:t>IMPLEMENTATION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66928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2700" b="1">
                <a:solidFill>
                  <a:srgbClr val="10243A"/>
                </a:solidFill>
                <a:latin typeface="Aptos"/>
              </a:rPr>
              <a:t>Technology &amp;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06424"/>
            <a:ext cx="10881360" cy="34747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1200" b="0">
                <a:solidFill>
                  <a:srgbClr val="607386"/>
                </a:solidFill>
                <a:latin typeface="Aptos"/>
              </a:rPr>
              <a:t>A compact local stack links the browser interface, recognition pipeline, and attendance records.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D9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9672"/>
            <a:ext cx="713232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800" b="0">
                <a:solidFill>
                  <a:srgbClr val="607386"/>
                </a:solidFill>
                <a:latin typeface="Aptos"/>
              </a:rPr>
              <a:t>DIGITAL FACIAL RECOGNITION ATTENDANCE SYSTEM  |  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2240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r"/>
            <a:r>
              <a:rPr sz="900" b="1">
                <a:solidFill>
                  <a:srgbClr val="10A89A"/>
                </a:solidFill>
                <a:latin typeface="Aptos"/>
              </a:rPr>
              <a:t>07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737360"/>
          <a:ext cx="10680192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9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81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Layer</a:t>
                      </a:r>
                    </a:p>
                  </a:txBody>
                  <a:tcPr marL="109728" marR="109728" marT="73152" marB="73152" anchor="ctr">
                    <a:solidFill>
                      <a:srgbClr val="1024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Technology</a:t>
                      </a:r>
                    </a:p>
                  </a:txBody>
                  <a:tcPr marL="109728" marR="109728" marT="73152" marB="73152" anchor="ctr">
                    <a:solidFill>
                      <a:srgbClr val="1024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Role in the project</a:t>
                      </a:r>
                    </a:p>
                  </a:txBody>
                  <a:tcPr marL="109728" marR="109728" marT="73152" marB="73152" anchor="ctr">
                    <a:solidFill>
                      <a:srgbClr val="10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82B3D"/>
                          </a:solidFill>
                          <a:latin typeface="Aptos"/>
                        </a:rPr>
                        <a:t>Web application</a:t>
                      </a:r>
                    </a:p>
                  </a:txBody>
                  <a:tcPr marL="109728" marR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07386"/>
                          </a:solidFill>
                          <a:latin typeface="Aptos"/>
                        </a:rPr>
                        <a:t>Python + Flask</a:t>
                      </a:r>
                    </a:p>
                  </a:txBody>
                  <a:tcPr marL="109728" marR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07386"/>
                          </a:solidFill>
                          <a:latin typeface="Aptos"/>
                        </a:rPr>
                        <a:t>Routes, admin session, training status, attendance endpoints</a:t>
                      </a:r>
                    </a:p>
                  </a:txBody>
                  <a:tcPr marL="109728" marR="109728" marT="73152" marB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82B3D"/>
                          </a:solidFill>
                          <a:latin typeface="Aptos"/>
                        </a:rPr>
                        <a:t>Web interface</a:t>
                      </a:r>
                    </a:p>
                  </a:txBody>
                  <a:tcPr marL="109728" marR="109728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07386"/>
                          </a:solidFill>
                          <a:latin typeface="Aptos"/>
                        </a:rPr>
                        <a:t>HTML / CSS / JavaScript</a:t>
                      </a:r>
                    </a:p>
                  </a:txBody>
                  <a:tcPr marL="109728" marR="109728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07386"/>
                          </a:solidFill>
                          <a:latin typeface="Aptos"/>
                        </a:rPr>
                        <a:t>Student forms, camera capture, live recognition, dashboard</a:t>
                      </a:r>
                    </a:p>
                  </a:txBody>
                  <a:tcPr marL="109728" marR="109728" marT="73152" marB="73152" anchor="ctr">
                    <a:solidFill>
                      <a:srgbClr val="ED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82B3D"/>
                          </a:solidFill>
                          <a:latin typeface="Aptos"/>
                        </a:rPr>
                        <a:t>Face detection</a:t>
                      </a:r>
                    </a:p>
                  </a:txBody>
                  <a:tcPr marL="109728" marR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07386"/>
                          </a:solidFill>
                          <a:latin typeface="Aptos"/>
                        </a:rPr>
                        <a:t>OpenCV YuNet</a:t>
                      </a:r>
                    </a:p>
                  </a:txBody>
                  <a:tcPr marL="109728" marR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07386"/>
                          </a:solidFill>
                          <a:latin typeface="Aptos"/>
                        </a:rPr>
                        <a:t>Detect and align the most prominent face in a frame</a:t>
                      </a:r>
                    </a:p>
                  </a:txBody>
                  <a:tcPr marL="109728" marR="109728" marT="73152" marB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82B3D"/>
                          </a:solidFill>
                          <a:latin typeface="Aptos"/>
                        </a:rPr>
                        <a:t>Face recognition</a:t>
                      </a:r>
                    </a:p>
                  </a:txBody>
                  <a:tcPr marL="109728" marR="109728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07386"/>
                          </a:solidFill>
                          <a:latin typeface="Aptos"/>
                        </a:rPr>
                        <a:t>OpenCV SFace + NumPy</a:t>
                      </a:r>
                    </a:p>
                  </a:txBody>
                  <a:tcPr marL="109728" marR="109728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07386"/>
                          </a:solidFill>
                          <a:latin typeface="Aptos"/>
                        </a:rPr>
                        <a:t>Create normalized embeddings and compare by cosine similarity</a:t>
                      </a:r>
                    </a:p>
                  </a:txBody>
                  <a:tcPr marL="109728" marR="109728" marT="73152" marB="73152" anchor="ctr">
                    <a:solidFill>
                      <a:srgbClr val="ED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82B3D"/>
                          </a:solidFill>
                          <a:latin typeface="Aptos"/>
                        </a:rPr>
                        <a:t>Persistence</a:t>
                      </a:r>
                    </a:p>
                  </a:txBody>
                  <a:tcPr marL="109728" marR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07386"/>
                          </a:solidFill>
                          <a:latin typeface="Aptos"/>
                        </a:rPr>
                        <a:t>SQLite + NPZ</a:t>
                      </a:r>
                    </a:p>
                  </a:txBody>
                  <a:tcPr marL="109728" marR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07386"/>
                          </a:solidFill>
                          <a:latin typeface="Aptos"/>
                        </a:rPr>
                        <a:t>Profiles, photos, attendance events, and trained embeddings</a:t>
                      </a:r>
                    </a:p>
                  </a:txBody>
                  <a:tcPr marL="109728" marR="109728" marT="73152" marB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41248" y="5952744"/>
            <a:ext cx="10378440" cy="28346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100" b="1">
                <a:solidFill>
                  <a:srgbClr val="D66B62"/>
                </a:solidFill>
                <a:latin typeface="Aptos"/>
              </a:rPr>
              <a:t>Biometric photos and derived embeddings are sensitive data; protect database/model files and define retention.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9509760" cy="21945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900" b="1">
                <a:solidFill>
                  <a:srgbClr val="10A89A"/>
                </a:solidFill>
                <a:latin typeface="Aptos"/>
              </a:rPr>
              <a:t>OBSERVED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66928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2700" b="1">
                <a:solidFill>
                  <a:srgbClr val="10243A"/>
                </a:solidFill>
                <a:latin typeface="Aptos"/>
              </a:rPr>
              <a:t>Results from the available project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06424"/>
            <a:ext cx="10881360" cy="34747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1200" b="0">
                <a:solidFill>
                  <a:srgbClr val="607386"/>
                </a:solidFill>
                <a:latin typeface="Aptos"/>
              </a:rPr>
              <a:t>Evidence comes from the local database counts and the recorded model-training status—not a controlled accuracy study.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D9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9672"/>
            <a:ext cx="713232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800" b="0">
                <a:solidFill>
                  <a:srgbClr val="607386"/>
                </a:solidFill>
                <a:latin typeface="Aptos"/>
              </a:rPr>
              <a:t>DIGITAL FACIAL RECOGNITION ATTENDANCE SYSTEM  |  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2240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r"/>
            <a:r>
              <a:rPr sz="900" b="1">
                <a:solidFill>
                  <a:srgbClr val="10A89A"/>
                </a:solidFill>
                <a:latin typeface="Aptos"/>
              </a:rPr>
              <a:t>08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58952" y="1755648"/>
          <a:ext cx="10643616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1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Measure</a:t>
                      </a:r>
                    </a:p>
                  </a:txBody>
                  <a:tcPr marL="109728" marR="109728" marT="73152" marB="73152" anchor="ctr">
                    <a:solidFill>
                      <a:srgbClr val="1024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Observed</a:t>
                      </a:r>
                    </a:p>
                  </a:txBody>
                  <a:tcPr marL="109728" marR="109728" marT="73152" marB="73152" anchor="ctr">
                    <a:solidFill>
                      <a:srgbClr val="1024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Interpretation</a:t>
                      </a:r>
                    </a:p>
                  </a:txBody>
                  <a:tcPr marL="109728" marR="109728" marT="73152" marB="73152" anchor="ctr">
                    <a:solidFill>
                      <a:srgbClr val="10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82B3D"/>
                          </a:solidFill>
                          <a:latin typeface="Aptos"/>
                        </a:rPr>
                        <a:t>Student profiles</a:t>
                      </a:r>
                    </a:p>
                  </a:txBody>
                  <a:tcPr marL="109728" marR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0A89A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109728" marR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82B3D"/>
                          </a:solidFill>
                          <a:latin typeface="Aptos"/>
                        </a:rPr>
                        <a:t>Profiles present in the local database snapshot</a:t>
                      </a:r>
                    </a:p>
                  </a:txBody>
                  <a:tcPr marL="109728" marR="109728" marT="73152" marB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82B3D"/>
                          </a:solidFill>
                          <a:latin typeface="Aptos"/>
                        </a:rPr>
                        <a:t>Captured face photos</a:t>
                      </a:r>
                    </a:p>
                  </a:txBody>
                  <a:tcPr marL="109728" marR="109728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0A89A"/>
                          </a:solidFill>
                          <a:latin typeface="Aptos"/>
                        </a:rPr>
                        <a:t>250</a:t>
                      </a:r>
                    </a:p>
                  </a:txBody>
                  <a:tcPr marL="109728" marR="109728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82B3D"/>
                          </a:solidFill>
                          <a:latin typeface="Aptos"/>
                        </a:rPr>
                        <a:t>Photos stored for enrollment; not all necessarily usable</a:t>
                      </a:r>
                    </a:p>
                  </a:txBody>
                  <a:tcPr marL="109728" marR="109728" marT="73152" marB="73152" anchor="ctr">
                    <a:solidFill>
                      <a:srgbClr val="ED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82B3D"/>
                          </a:solidFill>
                          <a:latin typeface="Aptos"/>
                        </a:rPr>
                        <a:t>Latest training status</a:t>
                      </a:r>
                    </a:p>
                  </a:txBody>
                  <a:tcPr marL="109728" marR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0A89A"/>
                          </a:solidFill>
                          <a:latin typeface="Aptos"/>
                        </a:rPr>
                        <a:t>Completed</a:t>
                      </a:r>
                    </a:p>
                  </a:txBody>
                  <a:tcPr marL="109728" marR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82B3D"/>
                          </a:solidFill>
                          <a:latin typeface="Aptos"/>
                        </a:rPr>
                        <a:t>Training log reports terminal success</a:t>
                      </a:r>
                    </a:p>
                  </a:txBody>
                  <a:tcPr marL="109728" marR="109728" marT="73152" marB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82B3D"/>
                          </a:solidFill>
                          <a:latin typeface="Aptos"/>
                        </a:rPr>
                        <a:t>Images used / skipped</a:t>
                      </a:r>
                    </a:p>
                  </a:txBody>
                  <a:tcPr marL="109728" marR="109728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0A89A"/>
                          </a:solidFill>
                          <a:latin typeface="Aptos"/>
                        </a:rPr>
                        <a:t>100 / 150</a:t>
                      </a:r>
                    </a:p>
                  </a:txBody>
                  <a:tcPr marL="109728" marR="109728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82B3D"/>
                          </a:solidFill>
                          <a:latin typeface="Aptos"/>
                        </a:rPr>
                        <a:t>Training log reports 100 used and 150 skipped</a:t>
                      </a:r>
                    </a:p>
                  </a:txBody>
                  <a:tcPr marL="109728" marR="109728" marT="73152" marB="73152" anchor="ctr">
                    <a:solidFill>
                      <a:srgbClr val="ED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82B3D"/>
                          </a:solidFill>
                          <a:latin typeface="Aptos"/>
                        </a:rPr>
                        <a:t>Attendance records</a:t>
                      </a:r>
                    </a:p>
                  </a:txBody>
                  <a:tcPr marL="109728" marR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0A89A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109728" marR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82B3D"/>
                          </a:solidFill>
                          <a:latin typeface="Aptos"/>
                        </a:rPr>
                        <a:t>Rows present in the local attendance table</a:t>
                      </a:r>
                    </a:p>
                  </a:txBody>
                  <a:tcPr marL="109728" marR="109728" marT="73152" marB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41248" y="5477256"/>
            <a:ext cx="10469880" cy="676656"/>
          </a:xfrm>
          <a:prstGeom prst="roundRect">
            <a:avLst>
              <a:gd name="adj" fmla="val 12000"/>
            </a:avLst>
          </a:prstGeom>
          <a:solidFill>
            <a:srgbClr val="FFF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8" y="5577840"/>
            <a:ext cx="10058400" cy="4389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182B3D"/>
                </a:solidFill>
                <a:latin typeface="Aptos"/>
              </a:rPr>
              <a:t>Recognition accuracy, false-accept rate, false-reject rate, latency, and user-study outcomes were not measured in the available project evidence.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9509760" cy="21945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900" b="1">
                <a:solidFill>
                  <a:srgbClr val="10A89A"/>
                </a:solidFill>
                <a:latin typeface="Aptos"/>
              </a:rPr>
              <a:t>CONCLUSIONS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66928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2700" b="1">
                <a:solidFill>
                  <a:srgbClr val="10243A"/>
                </a:solidFill>
                <a:latin typeface="Aptos"/>
              </a:rPr>
              <a:t>What the results tell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06424"/>
            <a:ext cx="10881360" cy="34747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1200" b="0">
                <a:solidFill>
                  <a:srgbClr val="607386"/>
                </a:solidFill>
                <a:latin typeface="Aptos"/>
              </a:rPr>
              <a:t>The prototype demonstrates an end-to-end implementation; recorded counts alone do not establish recognition quality.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D9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19672"/>
            <a:ext cx="713232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800" b="0">
                <a:solidFill>
                  <a:srgbClr val="607386"/>
                </a:solidFill>
                <a:latin typeface="Aptos"/>
              </a:rPr>
              <a:t>DIGITAL FACIAL RECOGNITION ATTENDANCE SYSTEM  |  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2240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r"/>
            <a:r>
              <a:rPr sz="900" b="1">
                <a:solidFill>
                  <a:srgbClr val="10A89A"/>
                </a:solidFill>
                <a:latin typeface="Aptos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737360"/>
            <a:ext cx="5093208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9808" y="1737360"/>
            <a:ext cx="64008" cy="1572768"/>
          </a:xfrm>
          <a:prstGeom prst="rect">
            <a:avLst/>
          </a:prstGeom>
          <a:solidFill>
            <a:srgbClr val="1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1856231"/>
            <a:ext cx="4727448" cy="34747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1600" b="1">
                <a:solidFill>
                  <a:srgbClr val="10243A"/>
                </a:solidFill>
                <a:latin typeface="Aptos"/>
              </a:rPr>
              <a:t>What is demonstrated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267712"/>
            <a:ext cx="4727448" cy="9326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0">
                <a:solidFill>
                  <a:srgbClr val="607386"/>
                </a:solidFill>
                <a:latin typeface="Aptos"/>
              </a:rPr>
              <a:t>Enrollment, background template building, webcam recognition, daily duplicate prevention, record filters, dashboard, and CSV export.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1737360"/>
            <a:ext cx="5093208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53912" y="1737360"/>
            <a:ext cx="64008" cy="1572768"/>
          </a:xfrm>
          <a:prstGeom prst="rect">
            <a:avLst/>
          </a:prstGeom>
          <a:solidFill>
            <a:srgbClr val="F3B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36792" y="1856231"/>
            <a:ext cx="4727448" cy="34747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1600" b="1">
                <a:solidFill>
                  <a:srgbClr val="10243A"/>
                </a:solidFill>
                <a:latin typeface="Aptos"/>
              </a:rPr>
              <a:t>What remains unverified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2267712"/>
            <a:ext cx="4727448" cy="9326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0">
                <a:solidFill>
                  <a:srgbClr val="607386"/>
                </a:solidFill>
                <a:latin typeface="Aptos"/>
              </a:rPr>
              <a:t>No documented benchmark of recognition accuracy, speed, fairness across groups, or performance in varied lighting and camera conditions.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703320"/>
            <a:ext cx="4114800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1000" b="1">
                <a:solidFill>
                  <a:srgbClr val="10A89A"/>
                </a:solidFill>
                <a:latin typeface="Aptos"/>
              </a:rPr>
              <a:t>RESPONSIBLE DEPLOYMENT CHECKLIST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4233672"/>
            <a:ext cx="164592" cy="164592"/>
          </a:xfrm>
          <a:prstGeom prst="ellipse">
            <a:avLst/>
          </a:prstGeom>
          <a:solidFill>
            <a:srgbClr val="1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16152" y="4160520"/>
            <a:ext cx="9601200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1300" b="0">
                <a:solidFill>
                  <a:srgbClr val="182B3D"/>
                </a:solidFill>
                <a:latin typeface="Aptos"/>
              </a:rPr>
              <a:t>Get informed consent before biometric capture.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4663440"/>
            <a:ext cx="164592" cy="164592"/>
          </a:xfrm>
          <a:prstGeom prst="ellipse">
            <a:avLst/>
          </a:prstGeom>
          <a:solidFill>
            <a:srgbClr val="55C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16152" y="4590288"/>
            <a:ext cx="9601200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1300" b="0">
                <a:solidFill>
                  <a:srgbClr val="182B3D"/>
                </a:solidFill>
                <a:latin typeface="Aptos"/>
              </a:rPr>
              <a:t>Keep use proportionate; provide a manual correction path.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5093208"/>
            <a:ext cx="164592" cy="164592"/>
          </a:xfrm>
          <a:prstGeom prst="ellipse">
            <a:avLst/>
          </a:prstGeom>
          <a:solidFill>
            <a:srgbClr val="F3B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16152" y="5020056"/>
            <a:ext cx="9601200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1300" b="0">
                <a:solidFill>
                  <a:srgbClr val="182B3D"/>
                </a:solidFill>
                <a:latin typeface="Aptos"/>
              </a:rPr>
              <a:t>Restrict access, protect backups, and set deletion/retention rules.</a:t>
            </a:r>
          </a:p>
        </p:txBody>
      </p:sp>
      <p:sp>
        <p:nvSpPr>
          <p:cNvPr id="24" name="Oval 23"/>
          <p:cNvSpPr/>
          <p:nvPr/>
        </p:nvSpPr>
        <p:spPr>
          <a:xfrm>
            <a:off x="914400" y="5522976"/>
            <a:ext cx="164592" cy="164592"/>
          </a:xfrm>
          <a:prstGeom prst="ellipse">
            <a:avLst/>
          </a:prstGeom>
          <a:solidFill>
            <a:srgbClr val="D6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16152" y="5449824"/>
            <a:ext cx="9601200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1300" b="0">
                <a:solidFill>
                  <a:srgbClr val="182B3D"/>
                </a:solidFill>
                <a:latin typeface="Aptos"/>
              </a:rPr>
              <a:t>Evaluate false matches and missed matches before consequential use.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557784"/>
            <a:ext cx="457200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1000" b="1">
                <a:solidFill>
                  <a:srgbClr val="55C5D0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78408"/>
            <a:ext cx="9875520" cy="65836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A practical attendance prototype—with validation still needed.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47088"/>
            <a:ext cx="9966960" cy="56692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1600" b="0">
                <a:solidFill>
                  <a:srgbClr val="D5E2EA"/>
                </a:solidFill>
                <a:latin typeface="Aptos"/>
              </a:rPr>
              <a:t>The project connects student enrollment, face matching, attendance storage, and record review in a local web application.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852928"/>
            <a:ext cx="3657600" cy="31089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1000" b="1">
                <a:solidFill>
                  <a:srgbClr val="55C5D0"/>
                </a:solidFill>
                <a:latin typeface="Aptos"/>
              </a:rPr>
              <a:t>RECOMMENDED NEXT STEPS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3355848"/>
            <a:ext cx="3337560" cy="1353312"/>
          </a:xfrm>
          <a:prstGeom prst="roundRect">
            <a:avLst>
              <a:gd name="adj" fmla="val 12000"/>
            </a:avLst>
          </a:prstGeom>
          <a:solidFill>
            <a:srgbClr val="183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14984" y="3511296"/>
            <a:ext cx="50292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1200" b="1">
                <a:solidFill>
                  <a:srgbClr val="55C5D0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474720"/>
            <a:ext cx="2331720" cy="33832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895344"/>
            <a:ext cx="292608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>
                <a:solidFill>
                  <a:srgbClr val="D5E2EA"/>
                </a:solidFill>
                <a:latin typeface="Aptos"/>
              </a:rPr>
              <a:t>Test accuracy and error rates on a consented, representative set.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3355848"/>
            <a:ext cx="3337560" cy="1353312"/>
          </a:xfrm>
          <a:prstGeom prst="roundRect">
            <a:avLst>
              <a:gd name="adj" fmla="val 12000"/>
            </a:avLst>
          </a:prstGeom>
          <a:solidFill>
            <a:srgbClr val="183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0016" y="3511296"/>
            <a:ext cx="50292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1200" b="1">
                <a:solidFill>
                  <a:srgbClr val="55C5D0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9512" y="3474720"/>
            <a:ext cx="2331720" cy="33832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Improve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895344"/>
            <a:ext cx="292608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>
                <a:solidFill>
                  <a:srgbClr val="D5E2EA"/>
                </a:solidFill>
                <a:latin typeface="Aptos"/>
              </a:rPr>
              <a:t>Tune threshold and enrollment guidance using measured results.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11312" y="3355848"/>
            <a:ext cx="3337560" cy="1353312"/>
          </a:xfrm>
          <a:prstGeom prst="roundRect">
            <a:avLst>
              <a:gd name="adj" fmla="val 12000"/>
            </a:avLst>
          </a:prstGeom>
          <a:solidFill>
            <a:srgbClr val="183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85048" y="3511296"/>
            <a:ext cx="50292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1200" b="1">
                <a:solidFill>
                  <a:srgbClr val="55C5D0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24544" y="3474720"/>
            <a:ext cx="2331720" cy="33832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Protect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3895344"/>
            <a:ext cx="292608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>
                <a:solidFill>
                  <a:srgbClr val="D5E2EA"/>
                </a:solidFill>
                <a:latin typeface="Aptos"/>
              </a:rPr>
              <a:t>Set retention, access, backup, and manual-review policies.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" y="5212080"/>
            <a:ext cx="10469880" cy="18288"/>
          </a:xfrm>
          <a:prstGeom prst="rect">
            <a:avLst/>
          </a:prstGeom>
          <a:solidFill>
            <a:srgbClr val="1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" y="5431536"/>
            <a:ext cx="10424160" cy="51206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6272784"/>
            <a:ext cx="969264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sz="900" b="0">
                <a:solidFill>
                  <a:srgbClr val="AFC3D0"/>
                </a:solidFill>
                <a:latin typeface="Aptos"/>
              </a:rPr>
              <a:t>Sources: project README, app.py, model.py, train_status.json, local aggregate database counts.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254496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r"/>
            <a:r>
              <a:rPr sz="900" b="1">
                <a:solidFill>
                  <a:srgbClr val="55C5D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1073</Words>
  <Application>Microsoft Office PowerPoint</Application>
  <PresentationFormat>Widescreen</PresentationFormat>
  <Paragraphs>185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Facial Recognition Attendance System</dc:title>
  <dc:subject>Project overview, methodology, results, and conclusions</dc:subject>
  <dc:creator>Project Presentation</dc:creator>
  <cp:keywords>attendance, face recognition, Flask, OpenCV, YuNet, SFace</cp:keywords>
  <dc:description>generated using python-pptx</dc:description>
  <cp:lastModifiedBy>SHUBH MAHETA</cp:lastModifiedBy>
  <cp:revision>1</cp:revision>
  <dcterms:created xsi:type="dcterms:W3CDTF">2013-01-27T09:14:16Z</dcterms:created>
  <dcterms:modified xsi:type="dcterms:W3CDTF">2026-10-21T04:02:46Z</dcterms:modified>
  <cp:category/>
</cp:coreProperties>
</file>